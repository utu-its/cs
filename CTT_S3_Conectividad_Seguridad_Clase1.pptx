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7" name="Google Shape;50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6400800" y="457200"/>
            <a:ext cx="54864" cy="54864"/>
          </a:xfrm>
          <a:prstGeom prst="ellipse">
            <a:avLst/>
          </a:prstGeom>
          <a:solidFill>
            <a:srgbClr val="48CAE4">
              <a:alpha val="30196"/>
            </a:srgbClr>
          </a:solidFill>
          <a:ln cap="flat" cmpd="sng" w="12700">
            <a:solidFill>
              <a:srgbClr val="48CAE4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6400800" y="1188720"/>
            <a:ext cx="54864" cy="54864"/>
          </a:xfrm>
          <a:prstGeom prst="ellipse">
            <a:avLst/>
          </a:prstGeom>
          <a:solidFill>
            <a:srgbClr val="48CAE4">
              <a:alpha val="30196"/>
            </a:srgbClr>
          </a:solidFill>
          <a:ln cap="flat" cmpd="sng" w="12700">
            <a:solidFill>
              <a:srgbClr val="48CAE4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6400800" y="1920240"/>
            <a:ext cx="54864" cy="54864"/>
          </a:xfrm>
          <a:prstGeom prst="ellipse">
            <a:avLst/>
          </a:prstGeom>
          <a:solidFill>
            <a:srgbClr val="48CAE4">
              <a:alpha val="30196"/>
            </a:srgbClr>
          </a:solidFill>
          <a:ln cap="flat" cmpd="sng" w="12700">
            <a:solidFill>
              <a:srgbClr val="48CAE4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6400800" y="2651760"/>
            <a:ext cx="54864" cy="54864"/>
          </a:xfrm>
          <a:prstGeom prst="ellipse">
            <a:avLst/>
          </a:prstGeom>
          <a:solidFill>
            <a:srgbClr val="48CAE4">
              <a:alpha val="30196"/>
            </a:srgbClr>
          </a:solidFill>
          <a:ln cap="flat" cmpd="sng" w="12700">
            <a:solidFill>
              <a:srgbClr val="48CAE4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6748272" y="457200"/>
            <a:ext cx="54864" cy="54864"/>
          </a:xfrm>
          <a:prstGeom prst="ellipse">
            <a:avLst/>
          </a:prstGeom>
          <a:solidFill>
            <a:srgbClr val="48CAE4">
              <a:alpha val="30196"/>
            </a:srgbClr>
          </a:solidFill>
          <a:ln cap="flat" cmpd="sng" w="12700">
            <a:solidFill>
              <a:srgbClr val="48CAE4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6748272" y="1188720"/>
            <a:ext cx="54864" cy="54864"/>
          </a:xfrm>
          <a:prstGeom prst="ellipse">
            <a:avLst/>
          </a:prstGeom>
          <a:solidFill>
            <a:srgbClr val="48CAE4">
              <a:alpha val="30196"/>
            </a:srgbClr>
          </a:solidFill>
          <a:ln cap="flat" cmpd="sng" w="12700">
            <a:solidFill>
              <a:srgbClr val="48CAE4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6748272" y="1920240"/>
            <a:ext cx="54864" cy="54864"/>
          </a:xfrm>
          <a:prstGeom prst="ellipse">
            <a:avLst/>
          </a:prstGeom>
          <a:solidFill>
            <a:srgbClr val="48CAE4">
              <a:alpha val="30196"/>
            </a:srgbClr>
          </a:solidFill>
          <a:ln cap="flat" cmpd="sng" w="12700">
            <a:solidFill>
              <a:srgbClr val="48CAE4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6748272" y="2651760"/>
            <a:ext cx="54864" cy="54864"/>
          </a:xfrm>
          <a:prstGeom prst="ellipse">
            <a:avLst/>
          </a:prstGeom>
          <a:solidFill>
            <a:srgbClr val="48CAE4">
              <a:alpha val="30196"/>
            </a:srgbClr>
          </a:solidFill>
          <a:ln cap="flat" cmpd="sng" w="12700">
            <a:solidFill>
              <a:srgbClr val="48CAE4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7095744" y="457200"/>
            <a:ext cx="54864" cy="54864"/>
          </a:xfrm>
          <a:prstGeom prst="ellipse">
            <a:avLst/>
          </a:prstGeom>
          <a:solidFill>
            <a:srgbClr val="48CAE4">
              <a:alpha val="30196"/>
            </a:srgbClr>
          </a:solidFill>
          <a:ln cap="flat" cmpd="sng" w="12700">
            <a:solidFill>
              <a:srgbClr val="48CAE4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7095744" y="1188720"/>
            <a:ext cx="54864" cy="54864"/>
          </a:xfrm>
          <a:prstGeom prst="ellipse">
            <a:avLst/>
          </a:prstGeom>
          <a:solidFill>
            <a:srgbClr val="48CAE4">
              <a:alpha val="30196"/>
            </a:srgbClr>
          </a:solidFill>
          <a:ln cap="flat" cmpd="sng" w="12700">
            <a:solidFill>
              <a:srgbClr val="48CAE4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7095744" y="1920240"/>
            <a:ext cx="54864" cy="54864"/>
          </a:xfrm>
          <a:prstGeom prst="ellipse">
            <a:avLst/>
          </a:prstGeom>
          <a:solidFill>
            <a:srgbClr val="48CAE4">
              <a:alpha val="30196"/>
            </a:srgbClr>
          </a:solidFill>
          <a:ln cap="flat" cmpd="sng" w="12700">
            <a:solidFill>
              <a:srgbClr val="48CAE4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7095744" y="2651760"/>
            <a:ext cx="54864" cy="54864"/>
          </a:xfrm>
          <a:prstGeom prst="ellipse">
            <a:avLst/>
          </a:prstGeom>
          <a:solidFill>
            <a:srgbClr val="48CAE4">
              <a:alpha val="30196"/>
            </a:srgbClr>
          </a:solidFill>
          <a:ln cap="flat" cmpd="sng" w="12700">
            <a:solidFill>
              <a:srgbClr val="48CAE4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7443216" y="457200"/>
            <a:ext cx="54864" cy="54864"/>
          </a:xfrm>
          <a:prstGeom prst="ellipse">
            <a:avLst/>
          </a:prstGeom>
          <a:solidFill>
            <a:srgbClr val="48CAE4">
              <a:alpha val="30196"/>
            </a:srgbClr>
          </a:solidFill>
          <a:ln cap="flat" cmpd="sng" w="12700">
            <a:solidFill>
              <a:srgbClr val="48CAE4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7443216" y="1188720"/>
            <a:ext cx="54864" cy="54864"/>
          </a:xfrm>
          <a:prstGeom prst="ellipse">
            <a:avLst/>
          </a:prstGeom>
          <a:solidFill>
            <a:srgbClr val="48CAE4">
              <a:alpha val="30196"/>
            </a:srgbClr>
          </a:solidFill>
          <a:ln cap="flat" cmpd="sng" w="12700">
            <a:solidFill>
              <a:srgbClr val="48CAE4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7443216" y="1920240"/>
            <a:ext cx="54864" cy="54864"/>
          </a:xfrm>
          <a:prstGeom prst="ellipse">
            <a:avLst/>
          </a:prstGeom>
          <a:solidFill>
            <a:srgbClr val="48CAE4">
              <a:alpha val="30196"/>
            </a:srgbClr>
          </a:solidFill>
          <a:ln cap="flat" cmpd="sng" w="12700">
            <a:solidFill>
              <a:srgbClr val="48CAE4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7443216" y="2651760"/>
            <a:ext cx="54864" cy="54864"/>
          </a:xfrm>
          <a:prstGeom prst="ellipse">
            <a:avLst/>
          </a:prstGeom>
          <a:solidFill>
            <a:srgbClr val="48CAE4">
              <a:alpha val="30196"/>
            </a:srgbClr>
          </a:solidFill>
          <a:ln cap="flat" cmpd="sng" w="12700">
            <a:solidFill>
              <a:srgbClr val="48CAE4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7790688" y="457200"/>
            <a:ext cx="54864" cy="54864"/>
          </a:xfrm>
          <a:prstGeom prst="ellipse">
            <a:avLst/>
          </a:prstGeom>
          <a:solidFill>
            <a:srgbClr val="48CAE4">
              <a:alpha val="30196"/>
            </a:srgbClr>
          </a:solidFill>
          <a:ln cap="flat" cmpd="sng" w="12700">
            <a:solidFill>
              <a:srgbClr val="48CAE4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7790688" y="1188720"/>
            <a:ext cx="54864" cy="54864"/>
          </a:xfrm>
          <a:prstGeom prst="ellipse">
            <a:avLst/>
          </a:prstGeom>
          <a:solidFill>
            <a:srgbClr val="48CAE4">
              <a:alpha val="30196"/>
            </a:srgbClr>
          </a:solidFill>
          <a:ln cap="flat" cmpd="sng" w="12700">
            <a:solidFill>
              <a:srgbClr val="48CAE4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7790688" y="1920240"/>
            <a:ext cx="54864" cy="54864"/>
          </a:xfrm>
          <a:prstGeom prst="ellipse">
            <a:avLst/>
          </a:prstGeom>
          <a:solidFill>
            <a:srgbClr val="48CAE4">
              <a:alpha val="30196"/>
            </a:srgbClr>
          </a:solidFill>
          <a:ln cap="flat" cmpd="sng" w="12700">
            <a:solidFill>
              <a:srgbClr val="48CAE4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7790688" y="2651760"/>
            <a:ext cx="54864" cy="54864"/>
          </a:xfrm>
          <a:prstGeom prst="ellipse">
            <a:avLst/>
          </a:prstGeom>
          <a:solidFill>
            <a:srgbClr val="48CAE4">
              <a:alpha val="30196"/>
            </a:srgbClr>
          </a:solidFill>
          <a:ln cap="flat" cmpd="sng" w="12700">
            <a:solidFill>
              <a:srgbClr val="48CAE4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8138160" y="457200"/>
            <a:ext cx="54864" cy="54864"/>
          </a:xfrm>
          <a:prstGeom prst="ellipse">
            <a:avLst/>
          </a:prstGeom>
          <a:solidFill>
            <a:srgbClr val="48CAE4">
              <a:alpha val="30196"/>
            </a:srgbClr>
          </a:solidFill>
          <a:ln cap="flat" cmpd="sng" w="12700">
            <a:solidFill>
              <a:srgbClr val="48CAE4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8138160" y="1188720"/>
            <a:ext cx="54864" cy="54864"/>
          </a:xfrm>
          <a:prstGeom prst="ellipse">
            <a:avLst/>
          </a:prstGeom>
          <a:solidFill>
            <a:srgbClr val="48CAE4">
              <a:alpha val="30196"/>
            </a:srgbClr>
          </a:solidFill>
          <a:ln cap="flat" cmpd="sng" w="12700">
            <a:solidFill>
              <a:srgbClr val="48CAE4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8138160" y="1920240"/>
            <a:ext cx="54864" cy="54864"/>
          </a:xfrm>
          <a:prstGeom prst="ellipse">
            <a:avLst/>
          </a:prstGeom>
          <a:solidFill>
            <a:srgbClr val="48CAE4">
              <a:alpha val="30196"/>
            </a:srgbClr>
          </a:solidFill>
          <a:ln cap="flat" cmpd="sng" w="12700">
            <a:solidFill>
              <a:srgbClr val="48CAE4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8138160" y="2651760"/>
            <a:ext cx="54864" cy="54864"/>
          </a:xfrm>
          <a:prstGeom prst="ellipse">
            <a:avLst/>
          </a:prstGeom>
          <a:solidFill>
            <a:srgbClr val="48CAE4">
              <a:alpha val="30196"/>
            </a:srgbClr>
          </a:solidFill>
          <a:ln cap="flat" cmpd="sng" w="12700">
            <a:solidFill>
              <a:srgbClr val="48CAE4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8485632" y="457200"/>
            <a:ext cx="54864" cy="54864"/>
          </a:xfrm>
          <a:prstGeom prst="ellipse">
            <a:avLst/>
          </a:prstGeom>
          <a:solidFill>
            <a:srgbClr val="48CAE4">
              <a:alpha val="30196"/>
            </a:srgbClr>
          </a:solidFill>
          <a:ln cap="flat" cmpd="sng" w="12700">
            <a:solidFill>
              <a:srgbClr val="48CAE4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8485632" y="1188720"/>
            <a:ext cx="54864" cy="54864"/>
          </a:xfrm>
          <a:prstGeom prst="ellipse">
            <a:avLst/>
          </a:prstGeom>
          <a:solidFill>
            <a:srgbClr val="48CAE4">
              <a:alpha val="30196"/>
            </a:srgbClr>
          </a:solidFill>
          <a:ln cap="flat" cmpd="sng" w="12700">
            <a:solidFill>
              <a:srgbClr val="48CAE4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8485632" y="1920240"/>
            <a:ext cx="54864" cy="54864"/>
          </a:xfrm>
          <a:prstGeom prst="ellipse">
            <a:avLst/>
          </a:prstGeom>
          <a:solidFill>
            <a:srgbClr val="48CAE4">
              <a:alpha val="30196"/>
            </a:srgbClr>
          </a:solidFill>
          <a:ln cap="flat" cmpd="sng" w="12700">
            <a:solidFill>
              <a:srgbClr val="48CAE4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8485632" y="2651760"/>
            <a:ext cx="54864" cy="54864"/>
          </a:xfrm>
          <a:prstGeom prst="ellipse">
            <a:avLst/>
          </a:prstGeom>
          <a:solidFill>
            <a:srgbClr val="48CAE4">
              <a:alpha val="30196"/>
            </a:srgbClr>
          </a:solidFill>
          <a:ln cap="flat" cmpd="sng" w="12700">
            <a:solidFill>
              <a:srgbClr val="48CAE4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8833104" y="457200"/>
            <a:ext cx="54864" cy="54864"/>
          </a:xfrm>
          <a:prstGeom prst="ellipse">
            <a:avLst/>
          </a:prstGeom>
          <a:solidFill>
            <a:srgbClr val="48CAE4">
              <a:alpha val="30196"/>
            </a:srgbClr>
          </a:solidFill>
          <a:ln cap="flat" cmpd="sng" w="12700">
            <a:solidFill>
              <a:srgbClr val="48CAE4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8833104" y="1188720"/>
            <a:ext cx="54864" cy="54864"/>
          </a:xfrm>
          <a:prstGeom prst="ellipse">
            <a:avLst/>
          </a:prstGeom>
          <a:solidFill>
            <a:srgbClr val="48CAE4">
              <a:alpha val="30196"/>
            </a:srgbClr>
          </a:solidFill>
          <a:ln cap="flat" cmpd="sng" w="12700">
            <a:solidFill>
              <a:srgbClr val="48CAE4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8833104" y="1920240"/>
            <a:ext cx="54864" cy="54864"/>
          </a:xfrm>
          <a:prstGeom prst="ellipse">
            <a:avLst/>
          </a:prstGeom>
          <a:solidFill>
            <a:srgbClr val="48CAE4">
              <a:alpha val="30196"/>
            </a:srgbClr>
          </a:solidFill>
          <a:ln cap="flat" cmpd="sng" w="12700">
            <a:solidFill>
              <a:srgbClr val="48CAE4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8833104" y="2651760"/>
            <a:ext cx="54864" cy="54864"/>
          </a:xfrm>
          <a:prstGeom prst="ellipse">
            <a:avLst/>
          </a:prstGeom>
          <a:solidFill>
            <a:srgbClr val="48CAE4">
              <a:alpha val="30196"/>
            </a:srgbClr>
          </a:solidFill>
          <a:ln cap="flat" cmpd="sng" w="12700">
            <a:solidFill>
              <a:srgbClr val="48CAE4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365760" y="914400"/>
            <a:ext cx="2560320" cy="32004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365760" y="91440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CTT — SEMESTRE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365760" y="1417320"/>
            <a:ext cx="77724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Conectividad 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Seguridad de Redes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365760" y="338328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E8F4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ADE8F4"/>
                </a:solidFill>
                <a:latin typeface="Calibri"/>
                <a:ea typeface="Calibri"/>
                <a:cs typeface="Calibri"/>
                <a:sym typeface="Calibri"/>
              </a:rPr>
              <a:t>Clase 1 — Introducción: arquitectura, protocolos y fundamentos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E45"/>
          </a:solidFill>
          <a:ln cap="flat" cmpd="sng" w="12700">
            <a:solidFill>
              <a:srgbClr val="1B2E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Duración: 3 horas   |   Modalidad: Teórico–Práctica   |   Referencia: CCNA · MTCNA · JNCIA-Junos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6" name="Google Shape;56;p3"/>
          <p:cNvPicPr preferRelativeResize="0"/>
          <p:nvPr/>
        </p:nvPicPr>
        <p:blipFill rotWithShape="1">
          <a:blip r:embed="rId3">
            <a:alphaModFix amt="80000"/>
          </a:blip>
          <a:srcRect b="0" l="0" r="0" t="0"/>
          <a:stretch/>
        </p:blipFill>
        <p:spPr>
          <a:xfrm>
            <a:off x="6858000" y="914400"/>
            <a:ext cx="1828800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A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Perfil de Egreso &amp; Certificaciones de Referencia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274320" y="1051560"/>
            <a:ext cx="4114800" cy="3749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274320" y="1051560"/>
            <a:ext cx="64008" cy="374904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457200" y="114300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Competencias del Módulo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502920" y="1600200"/>
            <a:ext cx="384048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Implementar redes LAN segmentadas con VLAN (802.1Q)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Configurar switches (STP, port-security) y routers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Aplicar ACL estándar y extendida, NAT overload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Configurar protocolos de routing (estático, RIP, OSPF)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Hardening básico de dispositivos de red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Diagnóstico sistemático por capas OSI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Documentar infraestructura con diagramas de topología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4663440" y="1051560"/>
            <a:ext cx="420624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4663440" y="1051560"/>
            <a:ext cx="64008" cy="109728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4663440" y="1051560"/>
            <a:ext cx="4206240" cy="347472"/>
          </a:xfrm>
          <a:prstGeom prst="rect">
            <a:avLst/>
          </a:prstGeom>
          <a:solidFill>
            <a:srgbClr val="0D1B2A">
              <a:alpha val="92156"/>
            </a:srgbClr>
          </a:solidFill>
          <a:ln cap="flat" cmpd="sng" w="12700">
            <a:solidFill>
              <a:srgbClr val="0D1B2A">
                <a:alpha val="9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4800600" y="1069848"/>
            <a:ext cx="2743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Cisco CCNA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7772400" y="1069848"/>
            <a:ext cx="1005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200-301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4800600" y="1453896"/>
            <a:ext cx="3931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Switching, Routing, Seguridad, Wireless, Automation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4663440" y="2286000"/>
            <a:ext cx="420624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4663440" y="2286000"/>
            <a:ext cx="64008" cy="1097280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4663440" y="2286000"/>
            <a:ext cx="4206240" cy="347472"/>
          </a:xfrm>
          <a:prstGeom prst="rect">
            <a:avLst/>
          </a:prstGeom>
          <a:solidFill>
            <a:srgbClr val="0D1B2A">
              <a:alpha val="92156"/>
            </a:srgbClr>
          </a:solidFill>
          <a:ln cap="flat" cmpd="sng" w="12700">
            <a:solidFill>
              <a:srgbClr val="0D1B2A">
                <a:alpha val="9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4800600" y="2304288"/>
            <a:ext cx="2743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MikroTik MTCNA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7772400" y="2304288"/>
            <a:ext cx="1005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RouterOS v7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4800600" y="2688336"/>
            <a:ext cx="3931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OSPF, BGP, VPN, Firewall, QoS, Hotspot en RouterOS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4663440" y="3520440"/>
            <a:ext cx="420624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4663440" y="3520440"/>
            <a:ext cx="64008" cy="1097280"/>
          </a:xfrm>
          <a:prstGeom prst="rect">
            <a:avLst/>
          </a:prstGeom>
          <a:solidFill>
            <a:srgbClr val="FFB703"/>
          </a:solidFill>
          <a:ln cap="flat" cmpd="sng" w="12700">
            <a:solidFill>
              <a:srgbClr val="FFB70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4663440" y="3520440"/>
            <a:ext cx="4206240" cy="347472"/>
          </a:xfrm>
          <a:prstGeom prst="rect">
            <a:avLst/>
          </a:prstGeom>
          <a:solidFill>
            <a:srgbClr val="0D1B2A">
              <a:alpha val="92156"/>
            </a:srgbClr>
          </a:solidFill>
          <a:ln cap="flat" cmpd="sng" w="12700">
            <a:solidFill>
              <a:srgbClr val="0D1B2A">
                <a:alpha val="9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4800600" y="3538728"/>
            <a:ext cx="2743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Juniper JNCIA-Junos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7772400" y="3538728"/>
            <a:ext cx="1005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B70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B703"/>
                </a:solidFill>
                <a:latin typeface="Calibri"/>
                <a:ea typeface="Calibri"/>
                <a:cs typeface="Calibri"/>
                <a:sym typeface="Calibri"/>
              </a:rPr>
              <a:t>JN0-104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4800600" y="3922776"/>
            <a:ext cx="3931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Junos OS, routing avanzado, seguridad, J-Web &amp; CLI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6" name="Google Shape;8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6720" y="4160520"/>
            <a:ext cx="594360" cy="594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E45"/>
          </a:solidFill>
          <a:ln cap="flat" cmpd="sng" w="12700">
            <a:solidFill>
              <a:srgbClr val="1B2E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274320" y="0"/>
            <a:ext cx="86868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Arquitectura Jerárquica de Red — Modelo de 3 Capas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228600" y="960120"/>
            <a:ext cx="8686800" cy="1143000"/>
          </a:xfrm>
          <a:prstGeom prst="rect">
            <a:avLst/>
          </a:prstGeom>
          <a:solidFill>
            <a:srgbClr val="243B55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228600" y="960120"/>
            <a:ext cx="64008" cy="1143000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228600" y="960120"/>
            <a:ext cx="2011680" cy="384048"/>
          </a:xfrm>
          <a:prstGeom prst="rect">
            <a:avLst/>
          </a:prstGeom>
          <a:solidFill>
            <a:srgbClr val="06D6A0">
              <a:alpha val="85098"/>
            </a:srgbClr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365760" y="978408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CAPA DE ACCESO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2331720" y="100584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(Access Layer)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411480" y="14173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E8F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DE8F4"/>
                </a:solidFill>
                <a:latin typeface="Calibri"/>
                <a:ea typeface="Calibri"/>
                <a:cs typeface="Calibri"/>
                <a:sym typeface="Calibri"/>
              </a:rPr>
              <a:t>Dispositivos: Switch L2  ·  802.1Q Trunk  ·  Port-Security  ·  DHCP Snooping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411480" y="170992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Conecta endpoints. Aplica VLAN, PoE, control de acceso MAC.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228600" y="2240280"/>
            <a:ext cx="8686800" cy="1143000"/>
          </a:xfrm>
          <a:prstGeom prst="rect">
            <a:avLst/>
          </a:prstGeom>
          <a:solidFill>
            <a:srgbClr val="243B55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228600" y="2240280"/>
            <a:ext cx="64008" cy="11430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228600" y="2240280"/>
            <a:ext cx="2011680" cy="384048"/>
          </a:xfrm>
          <a:prstGeom prst="rect">
            <a:avLst/>
          </a:prstGeom>
          <a:solidFill>
            <a:srgbClr val="00B4D8">
              <a:alpha val="85098"/>
            </a:srgbClr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365760" y="2258568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CAPA DE DISTRIBUCIÓN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2331720" y="228600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(Distribution Layer)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411480" y="2697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E8F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DE8F4"/>
                </a:solidFill>
                <a:latin typeface="Calibri"/>
                <a:ea typeface="Calibri"/>
                <a:cs typeface="Calibri"/>
                <a:sym typeface="Calibri"/>
              </a:rPr>
              <a:t>Dispositivos: Switch L3  ·  Router  ·  Inter-VLAN Routing  ·  ACL  ·  STP Root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411480" y="299008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Agrega tráfico, aplica políticas, ejecuta routing entre VLANs.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228600" y="3520440"/>
            <a:ext cx="8686800" cy="1143000"/>
          </a:xfrm>
          <a:prstGeom prst="rect">
            <a:avLst/>
          </a:prstGeom>
          <a:solidFill>
            <a:srgbClr val="243B55"/>
          </a:solidFill>
          <a:ln cap="flat" cmpd="sng" w="12700">
            <a:solidFill>
              <a:srgbClr val="F725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228600" y="3520440"/>
            <a:ext cx="64008" cy="1143000"/>
          </a:xfrm>
          <a:prstGeom prst="rect">
            <a:avLst/>
          </a:prstGeom>
          <a:solidFill>
            <a:srgbClr val="F72585"/>
          </a:solidFill>
          <a:ln cap="flat" cmpd="sng" w="12700">
            <a:solidFill>
              <a:srgbClr val="F725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228600" y="3520440"/>
            <a:ext cx="2011680" cy="384048"/>
          </a:xfrm>
          <a:prstGeom prst="rect">
            <a:avLst/>
          </a:prstGeom>
          <a:solidFill>
            <a:srgbClr val="F72585">
              <a:alpha val="85098"/>
            </a:srgbClr>
          </a:solidFill>
          <a:ln cap="flat" cmpd="sng" w="12700">
            <a:solidFill>
              <a:srgbClr val="F725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365760" y="3538728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CAPA DE NÚCLEO / PERÍMETRO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2331720" y="356616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2585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F72585"/>
                </a:solidFill>
                <a:latin typeface="Calibri"/>
                <a:ea typeface="Calibri"/>
                <a:cs typeface="Calibri"/>
                <a:sym typeface="Calibri"/>
              </a:rPr>
              <a:t>(Core / Edge Layer)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411480" y="39776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E8F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DE8F4"/>
                </a:solidFill>
                <a:latin typeface="Calibri"/>
                <a:ea typeface="Calibri"/>
                <a:cs typeface="Calibri"/>
                <a:sym typeface="Calibri"/>
              </a:rPr>
              <a:t>Dispositivos: Firewall (stateful)  ·  Router BGP/OSPF  ·  DMZ  ·  NAT  ·  IDS/IPS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411480" y="427024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Gateway hacia Internet, DMZ, VPN y servicios externos.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5"/>
          <p:cNvCxnSpPr/>
          <p:nvPr/>
        </p:nvCxnSpPr>
        <p:spPr>
          <a:xfrm>
            <a:off x="4389120" y="2121408"/>
            <a:ext cx="0" cy="91440"/>
          </a:xfrm>
          <a:prstGeom prst="straightConnector1">
            <a:avLst/>
          </a:prstGeom>
          <a:noFill/>
          <a:ln cap="flat" cmpd="sng" w="254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A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Modelo OSI vs TCP/IP — Encapsulación de Datos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228600" y="1051560"/>
            <a:ext cx="2468880" cy="365760"/>
          </a:xfrm>
          <a:prstGeom prst="rect">
            <a:avLst/>
          </a:prstGeom>
          <a:solidFill>
            <a:srgbClr val="1B2E45"/>
          </a:solidFill>
          <a:ln cap="flat" cmpd="sng" w="12700">
            <a:solidFill>
              <a:srgbClr val="1B2E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2788920" y="1051560"/>
            <a:ext cx="4114800" cy="365760"/>
          </a:xfrm>
          <a:prstGeom prst="rect">
            <a:avLst/>
          </a:prstGeom>
          <a:solidFill>
            <a:srgbClr val="1B2E45"/>
          </a:solidFill>
          <a:ln cap="flat" cmpd="sng" w="12700">
            <a:solidFill>
              <a:srgbClr val="1B2E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6995160" y="1051560"/>
            <a:ext cx="1371600" cy="365760"/>
          </a:xfrm>
          <a:prstGeom prst="rect">
            <a:avLst/>
          </a:prstGeom>
          <a:solidFill>
            <a:srgbClr val="1B2E45"/>
          </a:solidFill>
          <a:ln cap="flat" cmpd="sng" w="12700">
            <a:solidFill>
              <a:srgbClr val="1B2E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8458200" y="1051560"/>
            <a:ext cx="548640" cy="365760"/>
          </a:xfrm>
          <a:prstGeom prst="rect">
            <a:avLst/>
          </a:prstGeom>
          <a:solidFill>
            <a:srgbClr val="1B2E45"/>
          </a:solidFill>
          <a:ln cap="flat" cmpd="sng" w="12700">
            <a:solidFill>
              <a:srgbClr val="1B2E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228600" y="105156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Capa OSI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2788920" y="105156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Protocolos / Tecnologías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6995160" y="105156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PDU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8458200" y="105156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TCP/IP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228600" y="1417320"/>
            <a:ext cx="877824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228600" y="1417320"/>
            <a:ext cx="201168" cy="5029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502920" y="141732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7 — Aplicación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2788920" y="1417320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HTTP, FTP, DNS, SMTP, SSH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6995160" y="141732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Datos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8458200" y="1417320"/>
            <a:ext cx="548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258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72585"/>
                </a:solidFill>
                <a:latin typeface="Calibri"/>
                <a:ea typeface="Calibri"/>
                <a:cs typeface="Calibri"/>
                <a:sym typeface="Calibri"/>
              </a:rPr>
              <a:t>L7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228600" y="1920240"/>
            <a:ext cx="8778240" cy="50292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228600" y="1920240"/>
            <a:ext cx="201168" cy="502920"/>
          </a:xfrm>
          <a:prstGeom prst="rect">
            <a:avLst/>
          </a:prstGeom>
          <a:solidFill>
            <a:srgbClr val="48CAE4"/>
          </a:solidFill>
          <a:ln cap="flat" cmpd="sng" w="12700">
            <a:solidFill>
              <a:srgbClr val="48CA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502920" y="192024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6 — Presentación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2788920" y="1920240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SSL/TLS, encoding, compresión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6995160" y="192024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Datos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8458200" y="1920240"/>
            <a:ext cx="548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258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72585"/>
                </a:solidFill>
                <a:latin typeface="Calibri"/>
                <a:ea typeface="Calibri"/>
                <a:cs typeface="Calibri"/>
                <a:sym typeface="Calibri"/>
              </a:rPr>
              <a:t>L6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228600" y="2423160"/>
            <a:ext cx="877824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228600" y="2423160"/>
            <a:ext cx="201168" cy="502920"/>
          </a:xfrm>
          <a:prstGeom prst="rect">
            <a:avLst/>
          </a:prstGeom>
          <a:solidFill>
            <a:srgbClr val="5BC8D5"/>
          </a:solidFill>
          <a:ln cap="flat" cmpd="sng" w="12700">
            <a:solidFill>
              <a:srgbClr val="5BC8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502920" y="242316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5 — Sesión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2788920" y="2423160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NetBIOS, RPC, establecer/cerrar sesión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6995160" y="242316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Datos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8458200" y="2423160"/>
            <a:ext cx="548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258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72585"/>
                </a:solidFill>
                <a:latin typeface="Calibri"/>
                <a:ea typeface="Calibri"/>
                <a:cs typeface="Calibri"/>
                <a:sym typeface="Calibri"/>
              </a:rPr>
              <a:t>L5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228600" y="2926080"/>
            <a:ext cx="8778240" cy="50292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228600" y="2926080"/>
            <a:ext cx="201168" cy="502920"/>
          </a:xfrm>
          <a:prstGeom prst="rect">
            <a:avLst/>
          </a:prstGeom>
          <a:solidFill>
            <a:srgbClr val="4A9FB5"/>
          </a:solidFill>
          <a:ln cap="flat" cmpd="sng" w="12700">
            <a:solidFill>
              <a:srgbClr val="4A9F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502920" y="292608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4 — Transporte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2788920" y="2926080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TCP (confiable), UDP (rápido)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6995160" y="292608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Segmento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8458200" y="2926080"/>
            <a:ext cx="548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258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72585"/>
                </a:solidFill>
                <a:latin typeface="Calibri"/>
                <a:ea typeface="Calibri"/>
                <a:cs typeface="Calibri"/>
                <a:sym typeface="Calibri"/>
              </a:rPr>
              <a:t>L4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228600" y="3429000"/>
            <a:ext cx="877824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228600" y="3429000"/>
            <a:ext cx="201168" cy="502920"/>
          </a:xfrm>
          <a:prstGeom prst="rect">
            <a:avLst/>
          </a:prstGeom>
          <a:solidFill>
            <a:srgbClr val="3A8090"/>
          </a:solidFill>
          <a:ln cap="flat" cmpd="sng" w="12700">
            <a:solidFill>
              <a:srgbClr val="3A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502920" y="342900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3 — Red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2788920" y="3429000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IP, ICMP, OSPF, BGP, RIP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6995160" y="342900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Paquete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8458200" y="3429000"/>
            <a:ext cx="548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258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72585"/>
                </a:solidFill>
                <a:latin typeface="Calibri"/>
                <a:ea typeface="Calibri"/>
                <a:cs typeface="Calibri"/>
                <a:sym typeface="Calibri"/>
              </a:rPr>
              <a:t>L3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228600" y="3931920"/>
            <a:ext cx="8778240" cy="50292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228600" y="3931920"/>
            <a:ext cx="201168" cy="502920"/>
          </a:xfrm>
          <a:prstGeom prst="rect">
            <a:avLst/>
          </a:prstGeom>
          <a:solidFill>
            <a:srgbClr val="2A6070"/>
          </a:solidFill>
          <a:ln cap="flat" cmpd="sng" w="12700">
            <a:solidFill>
              <a:srgbClr val="2A6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502920" y="393192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2 — Enlace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2788920" y="3931920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Ethernet, 802.1Q, STP, ARP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6995160" y="393192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Trama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8458200" y="3931920"/>
            <a:ext cx="548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258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72585"/>
                </a:solidFill>
                <a:latin typeface="Calibri"/>
                <a:ea typeface="Calibri"/>
                <a:cs typeface="Calibri"/>
                <a:sym typeface="Calibri"/>
              </a:rPr>
              <a:t>L2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228600" y="4434840"/>
            <a:ext cx="877824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228600" y="4434840"/>
            <a:ext cx="201168" cy="502920"/>
          </a:xfrm>
          <a:prstGeom prst="rect">
            <a:avLst/>
          </a:prstGeom>
          <a:solidFill>
            <a:srgbClr val="1A4050"/>
          </a:solidFill>
          <a:ln cap="flat" cmpd="sng" w="12700">
            <a:solidFill>
              <a:srgbClr val="1A4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502920" y="443484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 — Física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2788920" y="4434840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Cable UTP, Fibra, WiFi 802.11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6995160" y="443484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Bits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8458200" y="4434840"/>
            <a:ext cx="548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258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72585"/>
                </a:solidFill>
                <a:latin typeface="Calibri"/>
                <a:ea typeface="Calibri"/>
                <a:cs typeface="Calibri"/>
                <a:sym typeface="Calibri"/>
              </a:rPr>
              <a:t>L1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228600" y="4773168"/>
            <a:ext cx="8778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TCP/IP consolida capas 5,6,7 → Aplicación | L3 → Internet | L4 → Transporte | L1,2 → Acceso a Red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E45"/>
          </a:solidFill>
          <a:ln cap="flat" cmpd="sng" w="12700">
            <a:solidFill>
              <a:srgbClr val="1B2E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274320" y="0"/>
            <a:ext cx="86868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Switching — Operación Capa 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228600" y="960120"/>
            <a:ext cx="4206240" cy="1920240"/>
          </a:xfrm>
          <a:prstGeom prst="rect">
            <a:avLst/>
          </a:prstGeom>
          <a:solidFill>
            <a:srgbClr val="243B55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228600" y="960120"/>
            <a:ext cx="4206240" cy="347472"/>
          </a:xfrm>
          <a:prstGeom prst="rect">
            <a:avLst/>
          </a:prstGeom>
          <a:solidFill>
            <a:srgbClr val="06D6A0">
              <a:alpha val="85098"/>
            </a:srgbClr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338328" y="987552"/>
            <a:ext cx="39867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Tabla CAM / MAC Address Table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338328" y="1362456"/>
            <a:ext cx="3986784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DE8F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DE8F4"/>
                </a:solidFill>
                <a:latin typeface="Calibri"/>
                <a:ea typeface="Calibri"/>
                <a:cs typeface="Calibri"/>
                <a:sym typeface="Calibri"/>
              </a:rPr>
              <a:t>Mapea: dirección MAC → puerto físico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ADE8F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DE8F4"/>
                </a:solidFill>
                <a:latin typeface="Calibri"/>
                <a:ea typeface="Calibri"/>
                <a:cs typeface="Calibri"/>
                <a:sym typeface="Calibri"/>
              </a:rPr>
              <a:t>Aprendizaje dinámico por frames entrantes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ADE8F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DE8F4"/>
                </a:solidFill>
                <a:latin typeface="Calibri"/>
                <a:ea typeface="Calibri"/>
                <a:cs typeface="Calibri"/>
                <a:sym typeface="Calibri"/>
              </a:rPr>
              <a:t>Flooding si destino desconocido (unicast unknown)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ADE8F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DE8F4"/>
                </a:solidFill>
                <a:latin typeface="Calibri"/>
                <a:ea typeface="Calibri"/>
                <a:cs typeface="Calibri"/>
                <a:sym typeface="Calibri"/>
              </a:rPr>
              <a:t>Aging timer: 300 s por defecto (Cisco IOS)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ADE8F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DE8F4"/>
                </a:solidFill>
                <a:latin typeface="Calibri"/>
                <a:ea typeface="Calibri"/>
                <a:cs typeface="Calibri"/>
                <a:sym typeface="Calibri"/>
              </a:rPr>
              <a:t>Capacidad típica: 8K–64K entradas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4709160" y="960120"/>
            <a:ext cx="4206240" cy="1920240"/>
          </a:xfrm>
          <a:prstGeom prst="rect">
            <a:avLst/>
          </a:prstGeom>
          <a:solidFill>
            <a:srgbClr val="243B55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4709160" y="960120"/>
            <a:ext cx="4206240" cy="347472"/>
          </a:xfrm>
          <a:prstGeom prst="rect">
            <a:avLst/>
          </a:prstGeom>
          <a:solidFill>
            <a:srgbClr val="00B4D8">
              <a:alpha val="85098"/>
            </a:srgbClr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4818888" y="987552"/>
            <a:ext cx="39867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Decisión de Forwarding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4818888" y="1362456"/>
            <a:ext cx="3986784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DE8F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DE8F4"/>
                </a:solidFill>
                <a:latin typeface="Calibri"/>
                <a:ea typeface="Calibri"/>
                <a:cs typeface="Calibri"/>
                <a:sym typeface="Calibri"/>
              </a:rPr>
              <a:t>Lookup en tabla CAM por MAC destino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ADE8F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DE8F4"/>
                </a:solidFill>
                <a:latin typeface="Calibri"/>
                <a:ea typeface="Calibri"/>
                <a:cs typeface="Calibri"/>
                <a:sym typeface="Calibri"/>
              </a:rPr>
              <a:t>Match → forward al puerto específico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ADE8F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DE8F4"/>
                </a:solidFill>
                <a:latin typeface="Calibri"/>
                <a:ea typeface="Calibri"/>
                <a:cs typeface="Calibri"/>
                <a:sym typeface="Calibri"/>
              </a:rPr>
              <a:t>No match → flood a todos (excepto puerto origen)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ADE8F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DE8F4"/>
                </a:solidFill>
                <a:latin typeface="Calibri"/>
                <a:ea typeface="Calibri"/>
                <a:cs typeface="Calibri"/>
                <a:sym typeface="Calibri"/>
              </a:rPr>
              <a:t>Broadcast / Multicast → flood en dominio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ADE8F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DE8F4"/>
                </a:solidFill>
                <a:latin typeface="Calibri"/>
                <a:ea typeface="Calibri"/>
                <a:cs typeface="Calibri"/>
                <a:sym typeface="Calibri"/>
              </a:rPr>
              <a:t>Store-and-forward vs Cut-through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228600" y="2971800"/>
            <a:ext cx="4206240" cy="1920240"/>
          </a:xfrm>
          <a:prstGeom prst="rect">
            <a:avLst/>
          </a:prstGeom>
          <a:solidFill>
            <a:srgbClr val="243B55"/>
          </a:solidFill>
          <a:ln cap="flat" cmpd="sng" w="12700">
            <a:solidFill>
              <a:srgbClr val="FFB70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228600" y="2971800"/>
            <a:ext cx="4206240" cy="347472"/>
          </a:xfrm>
          <a:prstGeom prst="rect">
            <a:avLst/>
          </a:prstGeom>
          <a:solidFill>
            <a:srgbClr val="FFB703">
              <a:alpha val="85098"/>
            </a:srgbClr>
          </a:solidFill>
          <a:ln cap="flat" cmpd="sng" w="12700">
            <a:solidFill>
              <a:srgbClr val="FFB70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338328" y="2999232"/>
            <a:ext cx="39867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Spanning Tree Protocol (STP / RSTP)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338328" y="3374136"/>
            <a:ext cx="3986784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DE8F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DE8F4"/>
                </a:solidFill>
                <a:latin typeface="Calibri"/>
                <a:ea typeface="Calibri"/>
                <a:cs typeface="Calibri"/>
                <a:sym typeface="Calibri"/>
              </a:rPr>
              <a:t>Previene loops en topologías redundantes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ADE8F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DE8F4"/>
                </a:solidFill>
                <a:latin typeface="Calibri"/>
                <a:ea typeface="Calibri"/>
                <a:cs typeface="Calibri"/>
                <a:sym typeface="Calibri"/>
              </a:rPr>
              <a:t>IEEE 802.1D (STP) → 802.1w (RSTP) → 802.1s (MSTP)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ADE8F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DE8F4"/>
                </a:solidFill>
                <a:latin typeface="Calibri"/>
                <a:ea typeface="Calibri"/>
                <a:cs typeface="Calibri"/>
                <a:sym typeface="Calibri"/>
              </a:rPr>
              <a:t>Elección de Root Bridge por Bridge ID (prioridad + MAC)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ADE8F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DE8F4"/>
                </a:solidFill>
                <a:latin typeface="Calibri"/>
                <a:ea typeface="Calibri"/>
                <a:cs typeface="Calibri"/>
                <a:sym typeface="Calibri"/>
              </a:rPr>
              <a:t>Estados: Blocking → Listening → Learning → Forwarding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ADE8F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DE8F4"/>
                </a:solidFill>
                <a:latin typeface="Calibri"/>
                <a:ea typeface="Calibri"/>
                <a:cs typeface="Calibri"/>
                <a:sym typeface="Calibri"/>
              </a:rPr>
              <a:t>RSTP convergencia: &lt; 1 s (vs 30–50 s STP clásico)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4709160" y="2971800"/>
            <a:ext cx="4206240" cy="1920240"/>
          </a:xfrm>
          <a:prstGeom prst="rect">
            <a:avLst/>
          </a:prstGeom>
          <a:solidFill>
            <a:srgbClr val="243B55"/>
          </a:solidFill>
          <a:ln cap="flat" cmpd="sng" w="12700">
            <a:solidFill>
              <a:srgbClr val="F725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4709160" y="2971800"/>
            <a:ext cx="4206240" cy="347472"/>
          </a:xfrm>
          <a:prstGeom prst="rect">
            <a:avLst/>
          </a:prstGeom>
          <a:solidFill>
            <a:srgbClr val="F72585">
              <a:alpha val="85098"/>
            </a:srgbClr>
          </a:solidFill>
          <a:ln cap="flat" cmpd="sng" w="12700">
            <a:solidFill>
              <a:srgbClr val="F725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4818888" y="2999232"/>
            <a:ext cx="39867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Seguridad en Capa 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4818888" y="3374136"/>
            <a:ext cx="3986784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DE8F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DE8F4"/>
                </a:solidFill>
                <a:latin typeface="Calibri"/>
                <a:ea typeface="Calibri"/>
                <a:cs typeface="Calibri"/>
                <a:sym typeface="Calibri"/>
              </a:rPr>
              <a:t>Port-Security: limita MACs por puerto, acción violation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ADE8F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DE8F4"/>
                </a:solidFill>
                <a:latin typeface="Calibri"/>
                <a:ea typeface="Calibri"/>
                <a:cs typeface="Calibri"/>
                <a:sym typeface="Calibri"/>
              </a:rPr>
              <a:t>DHCP Snooping: filtra respuestas DHCP no autorizadas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ADE8F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DE8F4"/>
                </a:solidFill>
                <a:latin typeface="Calibri"/>
                <a:ea typeface="Calibri"/>
                <a:cs typeface="Calibri"/>
                <a:sym typeface="Calibri"/>
              </a:rPr>
              <a:t>Dynamic ARP Inspection (DAI): previene ARP spoofing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ADE8F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DE8F4"/>
                </a:solidFill>
                <a:latin typeface="Calibri"/>
                <a:ea typeface="Calibri"/>
                <a:cs typeface="Calibri"/>
                <a:sym typeface="Calibri"/>
              </a:rPr>
              <a:t>802.1X: autenticación por puerto (EAP + RADIUS)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ADE8F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DE8F4"/>
                </a:solidFill>
                <a:latin typeface="Calibri"/>
                <a:ea typeface="Calibri"/>
                <a:cs typeface="Calibri"/>
                <a:sym typeface="Calibri"/>
              </a:rPr>
              <a:t>BPDU Guard: protege puertos edge contra STP injection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A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VLAN — Segmentación Lógica &amp; Estándar 802.1Q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228600" y="1051560"/>
            <a:ext cx="4206240" cy="7498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228600" y="1051560"/>
            <a:ext cx="1005840" cy="749808"/>
          </a:xfrm>
          <a:prstGeom prst="rect">
            <a:avLst/>
          </a:prstGeom>
          <a:solidFill>
            <a:srgbClr val="06D6A0">
              <a:alpha val="90196"/>
            </a:srgbClr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228600" y="1051560"/>
            <a:ext cx="10058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VLAN 10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1298448" y="109728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ADMINISTRACIÓN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1298448" y="143560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192.168.10.0/24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228600" y="1938528"/>
            <a:ext cx="4206240" cy="7498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228600" y="1938528"/>
            <a:ext cx="1005840" cy="749808"/>
          </a:xfrm>
          <a:prstGeom prst="rect">
            <a:avLst/>
          </a:prstGeom>
          <a:solidFill>
            <a:srgbClr val="00B4D8">
              <a:alpha val="90196"/>
            </a:srgbClr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228600" y="1938528"/>
            <a:ext cx="10058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VLAN 20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1298448" y="1984248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DOCENTES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1298448" y="2322576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192.168.20.0/24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228600" y="2825496"/>
            <a:ext cx="4206240" cy="7498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B70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228600" y="2825496"/>
            <a:ext cx="1005840" cy="749808"/>
          </a:xfrm>
          <a:prstGeom prst="rect">
            <a:avLst/>
          </a:prstGeom>
          <a:solidFill>
            <a:srgbClr val="FFB703">
              <a:alpha val="90196"/>
            </a:srgbClr>
          </a:solidFill>
          <a:ln cap="flat" cmpd="sng" w="12700">
            <a:solidFill>
              <a:srgbClr val="FFB70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228600" y="2825496"/>
            <a:ext cx="10058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VLAN 30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1298448" y="2871216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ALUMNOS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1298448" y="3209544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192.168.30.0/24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228600" y="3712464"/>
            <a:ext cx="4206240" cy="7498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7258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228600" y="3712464"/>
            <a:ext cx="1005840" cy="749808"/>
          </a:xfrm>
          <a:prstGeom prst="rect">
            <a:avLst/>
          </a:prstGeom>
          <a:solidFill>
            <a:srgbClr val="F72585">
              <a:alpha val="90196"/>
            </a:srgbClr>
          </a:solidFill>
          <a:ln cap="flat" cmpd="sng" w="12700">
            <a:solidFill>
              <a:srgbClr val="F725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228600" y="3712464"/>
            <a:ext cx="10058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VLAN 99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1298448" y="3758184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MGMT NATIVE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1298448" y="409651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172.16.99.0/28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4709160" y="1051560"/>
            <a:ext cx="4206240" cy="3840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"/>
          <p:cNvSpPr/>
          <p:nvPr/>
        </p:nvSpPr>
        <p:spPr>
          <a:xfrm>
            <a:off x="4709160" y="1051560"/>
            <a:ext cx="4206240" cy="36576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4800600" y="105156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Etiquetado IEEE 802.1Q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4754880" y="1508760"/>
            <a:ext cx="64008" cy="41148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4919472" y="1508760"/>
            <a:ext cx="3840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Tag VLAN en trama Ethernet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4919472" y="171907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 bytes insertados: TPID (0x8100) + TCI (PCP 3b + DEI 1b + VID 12b)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4754880" y="2057400"/>
            <a:ext cx="64008" cy="41148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"/>
          <p:cNvSpPr/>
          <p:nvPr/>
        </p:nvSpPr>
        <p:spPr>
          <a:xfrm>
            <a:off x="4919472" y="2057400"/>
            <a:ext cx="3840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Rango de VLANs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4919472" y="226771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Normal: 1–1005  |  Extendido: 1006–4094  |  Reservadas: 1002–1005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4754880" y="2606040"/>
            <a:ext cx="64008" cy="41148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"/>
          <p:cNvSpPr/>
          <p:nvPr/>
        </p:nvSpPr>
        <p:spPr>
          <a:xfrm>
            <a:off x="4919472" y="2606040"/>
            <a:ext cx="3840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Puerto ACCESS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4919472" y="281635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Pertenece a una VLAN, no etiqueta el tráfico al endpoint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4754880" y="3154680"/>
            <a:ext cx="64008" cy="41148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8"/>
          <p:cNvSpPr/>
          <p:nvPr/>
        </p:nvSpPr>
        <p:spPr>
          <a:xfrm>
            <a:off x="4919472" y="3154680"/>
            <a:ext cx="3840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Puerto TRUNK (802.1Q)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4919472" y="336499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Transporta múltiples VLANs etiquetadas entre switches/routers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4754880" y="3703320"/>
            <a:ext cx="64008" cy="41148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8"/>
          <p:cNvSpPr/>
          <p:nvPr/>
        </p:nvSpPr>
        <p:spPr>
          <a:xfrm>
            <a:off x="4919472" y="3703320"/>
            <a:ext cx="3840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Native VLAN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4919472" y="391363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Tráfico sin etiqueta en un trunk → debe coincidir en ambos extremos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4754880" y="4251960"/>
            <a:ext cx="64008" cy="41148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8"/>
          <p:cNvSpPr/>
          <p:nvPr/>
        </p:nvSpPr>
        <p:spPr>
          <a:xfrm>
            <a:off x="4919472" y="4251960"/>
            <a:ext cx="3840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Inter-VLAN Routing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4919472" y="446227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Router-on-a-stick (subinterfaces) o Switch L3 (SVI interface)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9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E45"/>
          </a:solidFill>
          <a:ln cap="flat" cmpd="sng" w="12700">
            <a:solidFill>
              <a:srgbClr val="1B2E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B703"/>
          </a:solidFill>
          <a:ln cap="flat" cmpd="sng" w="12700">
            <a:solidFill>
              <a:srgbClr val="FFB70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9"/>
          <p:cNvSpPr/>
          <p:nvPr/>
        </p:nvSpPr>
        <p:spPr>
          <a:xfrm>
            <a:off x="274320" y="0"/>
            <a:ext cx="86868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Routing — Tabla de Ruteo &amp; Protocolos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228600" y="960120"/>
            <a:ext cx="5029200" cy="3840480"/>
          </a:xfrm>
          <a:prstGeom prst="rect">
            <a:avLst/>
          </a:prstGeom>
          <a:solidFill>
            <a:srgbClr val="0A0F1A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9"/>
          <p:cNvSpPr/>
          <p:nvPr/>
        </p:nvSpPr>
        <p:spPr>
          <a:xfrm>
            <a:off x="228600" y="960120"/>
            <a:ext cx="5029200" cy="347472"/>
          </a:xfrm>
          <a:prstGeom prst="rect">
            <a:avLst/>
          </a:prstGeom>
          <a:solidFill>
            <a:srgbClr val="243B55"/>
          </a:solidFill>
          <a:ln cap="flat" cmpd="sng" w="12700">
            <a:solidFill>
              <a:srgbClr val="243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9"/>
          <p:cNvSpPr/>
          <p:nvPr/>
        </p:nvSpPr>
        <p:spPr>
          <a:xfrm>
            <a:off x="320040" y="978408"/>
            <a:ext cx="4846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6D6A0"/>
                </a:solidFill>
                <a:latin typeface="Consolas"/>
                <a:ea typeface="Consolas"/>
                <a:cs typeface="Consolas"/>
                <a:sym typeface="Consolas"/>
              </a:rPr>
              <a:t>Router# show ip route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320040" y="1389888"/>
            <a:ext cx="274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6D6A0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658368" y="1389888"/>
            <a:ext cx="4480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C4CC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A0C4CC"/>
                </a:solidFill>
                <a:latin typeface="Consolas"/>
                <a:ea typeface="Consolas"/>
                <a:cs typeface="Consolas"/>
                <a:sym typeface="Consolas"/>
              </a:rPr>
              <a:t>192.168.10.0/24 is directly connected, Gi0/0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320040" y="1865376"/>
            <a:ext cx="274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6D6A0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658368" y="1865376"/>
            <a:ext cx="4480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C4CC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A0C4CC"/>
                </a:solidFill>
                <a:latin typeface="Consolas"/>
                <a:ea typeface="Consolas"/>
                <a:cs typeface="Consolas"/>
                <a:sym typeface="Consolas"/>
              </a:rPr>
              <a:t>192.168.20.0/24 is directly connected, Gi0/1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320040" y="2340864"/>
            <a:ext cx="274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703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B703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658368" y="2340864"/>
            <a:ext cx="4480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C4CC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A0C4CC"/>
                </a:solidFill>
                <a:latin typeface="Consolas"/>
                <a:ea typeface="Consolas"/>
                <a:cs typeface="Consolas"/>
                <a:sym typeface="Consolas"/>
              </a:rPr>
              <a:t>0.0.0.0/0 [1/0] via 200.10.10.1 (default route)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320040" y="2816352"/>
            <a:ext cx="274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658368" y="2816352"/>
            <a:ext cx="4480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C4CC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A0C4CC"/>
                </a:solidFill>
                <a:latin typeface="Consolas"/>
                <a:ea typeface="Consolas"/>
                <a:cs typeface="Consolas"/>
                <a:sym typeface="Consolas"/>
              </a:rPr>
              <a:t>10.0.0.0/8 [110/2] via 10.1.1.2, Gi0/2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320040" y="3291840"/>
            <a:ext cx="274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CAE4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48CAE4"/>
                </a:solidFill>
                <a:latin typeface="Consolas"/>
                <a:ea typeface="Consolas"/>
                <a:cs typeface="Consolas"/>
                <a:sym typeface="Consolas"/>
              </a:rPr>
              <a:t>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658368" y="3291840"/>
            <a:ext cx="4480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C4CC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A0C4CC"/>
                </a:solidFill>
                <a:latin typeface="Consolas"/>
                <a:ea typeface="Consolas"/>
                <a:cs typeface="Consolas"/>
                <a:sym typeface="Consolas"/>
              </a:rPr>
              <a:t>172.16.0.0/16 [120/1] via 192.168.30.1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320040" y="3767328"/>
            <a:ext cx="274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2585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72585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658368" y="3767328"/>
            <a:ext cx="4480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C4CC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A0C4CC"/>
                </a:solidFill>
                <a:latin typeface="Consolas"/>
                <a:ea typeface="Consolas"/>
                <a:cs typeface="Consolas"/>
                <a:sym typeface="Consolas"/>
              </a:rPr>
              <a:t>203.0.113.0/24 [20/0] via 200.10.10.1 (eBGP)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274320" y="429768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C=Conectado  S=Estático  O=OSPF [AD/metric]  R=RIP  B=BGP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5486400" y="960120"/>
            <a:ext cx="3429000" cy="365760"/>
          </a:xfrm>
          <a:prstGeom prst="rect">
            <a:avLst/>
          </a:prstGeom>
          <a:solidFill>
            <a:srgbClr val="1B2E45"/>
          </a:solidFill>
          <a:ln cap="flat" cmpd="sng" w="12700">
            <a:solidFill>
              <a:srgbClr val="1B2E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9"/>
          <p:cNvSpPr/>
          <p:nvPr/>
        </p:nvSpPr>
        <p:spPr>
          <a:xfrm>
            <a:off x="5486400" y="96012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Protocolo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6858000" y="960120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7360920" y="96012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Tipo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8183880" y="960120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Alcance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5486400" y="1325880"/>
            <a:ext cx="3429000" cy="612648"/>
          </a:xfrm>
          <a:prstGeom prst="rect">
            <a:avLst/>
          </a:prstGeom>
          <a:solidFill>
            <a:srgbClr val="243B55"/>
          </a:solidFill>
          <a:ln cap="flat" cmpd="sng" w="12700">
            <a:solidFill>
              <a:srgbClr val="243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9"/>
          <p:cNvSpPr/>
          <p:nvPr/>
        </p:nvSpPr>
        <p:spPr>
          <a:xfrm>
            <a:off x="5486400" y="1325880"/>
            <a:ext cx="54864" cy="612648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9"/>
          <p:cNvSpPr/>
          <p:nvPr/>
        </p:nvSpPr>
        <p:spPr>
          <a:xfrm>
            <a:off x="5559552" y="1325880"/>
            <a:ext cx="132588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Estático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6858000" y="1325880"/>
            <a:ext cx="50292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7360920" y="1325880"/>
            <a:ext cx="82296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Manual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8183880" y="1325880"/>
            <a:ext cx="713232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E8F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ADE8F4"/>
                </a:solidFill>
                <a:latin typeface="Calibri"/>
                <a:ea typeface="Calibri"/>
                <a:cs typeface="Calibri"/>
                <a:sym typeface="Calibri"/>
              </a:rPr>
              <a:t>LAN / default route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5486400" y="1984248"/>
            <a:ext cx="3429000" cy="61264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243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9"/>
          <p:cNvSpPr/>
          <p:nvPr/>
        </p:nvSpPr>
        <p:spPr>
          <a:xfrm>
            <a:off x="5486400" y="1984248"/>
            <a:ext cx="54864" cy="612648"/>
          </a:xfrm>
          <a:prstGeom prst="rect">
            <a:avLst/>
          </a:prstGeom>
          <a:solidFill>
            <a:srgbClr val="48CAE4"/>
          </a:solidFill>
          <a:ln cap="flat" cmpd="sng" w="12700">
            <a:solidFill>
              <a:srgbClr val="48CA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9"/>
          <p:cNvSpPr/>
          <p:nvPr/>
        </p:nvSpPr>
        <p:spPr>
          <a:xfrm>
            <a:off x="5559552" y="1984248"/>
            <a:ext cx="132588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RIP v2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6858000" y="1984248"/>
            <a:ext cx="50292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8CAE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120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7360920" y="1984248"/>
            <a:ext cx="82296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IGP / DV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8183880" y="1984248"/>
            <a:ext cx="713232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E8F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ADE8F4"/>
                </a:solidFill>
                <a:latin typeface="Calibri"/>
                <a:ea typeface="Calibri"/>
                <a:cs typeface="Calibri"/>
                <a:sym typeface="Calibri"/>
              </a:rPr>
              <a:t>Redes pequeñas ≤15 hops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5486400" y="2642616"/>
            <a:ext cx="3429000" cy="612648"/>
          </a:xfrm>
          <a:prstGeom prst="rect">
            <a:avLst/>
          </a:prstGeom>
          <a:solidFill>
            <a:srgbClr val="243B55"/>
          </a:solidFill>
          <a:ln cap="flat" cmpd="sng" w="12700">
            <a:solidFill>
              <a:srgbClr val="243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9"/>
          <p:cNvSpPr/>
          <p:nvPr/>
        </p:nvSpPr>
        <p:spPr>
          <a:xfrm>
            <a:off x="5486400" y="2642616"/>
            <a:ext cx="54864" cy="61264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9"/>
          <p:cNvSpPr/>
          <p:nvPr/>
        </p:nvSpPr>
        <p:spPr>
          <a:xfrm>
            <a:off x="5559552" y="2642616"/>
            <a:ext cx="132588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OSPF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6858000" y="2642616"/>
            <a:ext cx="50292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110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7360920" y="2642616"/>
            <a:ext cx="82296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IGP / 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8183880" y="2642616"/>
            <a:ext cx="713232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E8F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ADE8F4"/>
                </a:solidFill>
                <a:latin typeface="Calibri"/>
                <a:ea typeface="Calibri"/>
                <a:cs typeface="Calibri"/>
                <a:sym typeface="Calibri"/>
              </a:rPr>
              <a:t>Empresas, backbone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5486400" y="3300984"/>
            <a:ext cx="3429000" cy="61264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243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9"/>
          <p:cNvSpPr/>
          <p:nvPr/>
        </p:nvSpPr>
        <p:spPr>
          <a:xfrm>
            <a:off x="5486400" y="3300984"/>
            <a:ext cx="54864" cy="612648"/>
          </a:xfrm>
          <a:prstGeom prst="rect">
            <a:avLst/>
          </a:prstGeom>
          <a:solidFill>
            <a:srgbClr val="FFB703"/>
          </a:solidFill>
          <a:ln cap="flat" cmpd="sng" w="12700">
            <a:solidFill>
              <a:srgbClr val="FFB70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9"/>
          <p:cNvSpPr/>
          <p:nvPr/>
        </p:nvSpPr>
        <p:spPr>
          <a:xfrm>
            <a:off x="5559552" y="3300984"/>
            <a:ext cx="132588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EIGRP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6858000" y="3300984"/>
            <a:ext cx="50292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70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B703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7360920" y="3300984"/>
            <a:ext cx="82296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IGP / Hybrid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8183880" y="3300984"/>
            <a:ext cx="713232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E8F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ADE8F4"/>
                </a:solidFill>
                <a:latin typeface="Calibri"/>
                <a:ea typeface="Calibri"/>
                <a:cs typeface="Calibri"/>
                <a:sym typeface="Calibri"/>
              </a:rPr>
              <a:t>Entornos Cisco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5486400" y="3959352"/>
            <a:ext cx="3429000" cy="612648"/>
          </a:xfrm>
          <a:prstGeom prst="rect">
            <a:avLst/>
          </a:prstGeom>
          <a:solidFill>
            <a:srgbClr val="243B55"/>
          </a:solidFill>
          <a:ln cap="flat" cmpd="sng" w="12700">
            <a:solidFill>
              <a:srgbClr val="243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9"/>
          <p:cNvSpPr/>
          <p:nvPr/>
        </p:nvSpPr>
        <p:spPr>
          <a:xfrm>
            <a:off x="5486400" y="3959352"/>
            <a:ext cx="54864" cy="612648"/>
          </a:xfrm>
          <a:prstGeom prst="rect">
            <a:avLst/>
          </a:prstGeom>
          <a:solidFill>
            <a:srgbClr val="F72585"/>
          </a:solidFill>
          <a:ln cap="flat" cmpd="sng" w="12700">
            <a:solidFill>
              <a:srgbClr val="F725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9"/>
          <p:cNvSpPr/>
          <p:nvPr/>
        </p:nvSpPr>
        <p:spPr>
          <a:xfrm>
            <a:off x="5559552" y="3959352"/>
            <a:ext cx="132588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BGP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6858000" y="3959352"/>
            <a:ext cx="50292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258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72585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7360920" y="3959352"/>
            <a:ext cx="82296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EGP / PV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8183880" y="3959352"/>
            <a:ext cx="713232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E8F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ADE8F4"/>
                </a:solidFill>
                <a:latin typeface="Calibri"/>
                <a:ea typeface="Calibri"/>
                <a:cs typeface="Calibri"/>
                <a:sym typeface="Calibri"/>
              </a:rPr>
              <a:t>ISP, Internet routing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A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0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Seguridad Perimetral — ACL · NAT · Firewall · DMZ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228600" y="1005840"/>
            <a:ext cx="4206240" cy="19385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7258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0"/>
          <p:cNvSpPr/>
          <p:nvPr/>
        </p:nvSpPr>
        <p:spPr>
          <a:xfrm>
            <a:off x="228600" y="1005840"/>
            <a:ext cx="4206240" cy="347472"/>
          </a:xfrm>
          <a:prstGeom prst="rect">
            <a:avLst/>
          </a:prstGeom>
          <a:solidFill>
            <a:srgbClr val="0D1B2A">
              <a:alpha val="94901"/>
            </a:srgbClr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0"/>
          <p:cNvSpPr/>
          <p:nvPr/>
        </p:nvSpPr>
        <p:spPr>
          <a:xfrm>
            <a:off x="228600" y="1005840"/>
            <a:ext cx="64008" cy="1938528"/>
          </a:xfrm>
          <a:prstGeom prst="rect">
            <a:avLst/>
          </a:prstGeom>
          <a:solidFill>
            <a:srgbClr val="F72585"/>
          </a:solidFill>
          <a:ln cap="flat" cmpd="sng" w="12700">
            <a:solidFill>
              <a:srgbClr val="F725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0"/>
          <p:cNvSpPr/>
          <p:nvPr/>
        </p:nvSpPr>
        <p:spPr>
          <a:xfrm>
            <a:off x="365760" y="1033272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258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72585"/>
                </a:solidFill>
                <a:latin typeface="Calibri"/>
                <a:ea typeface="Calibri"/>
                <a:cs typeface="Calibri"/>
                <a:sym typeface="Calibri"/>
              </a:rPr>
              <a:t>ACL — Access Control List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365760" y="1408176"/>
            <a:ext cx="39776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Estándar (1–99): filtra solo por IP origen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Extendida (100–199): src IP, dst IP, protocolo, puerto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Entrada (in) o salida (out) por interfaz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Regla implícita: deny any any al final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Wildcard mask ≠ Subnet mask (invertida)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4709160" y="1005840"/>
            <a:ext cx="4206240" cy="19385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0"/>
          <p:cNvSpPr/>
          <p:nvPr/>
        </p:nvSpPr>
        <p:spPr>
          <a:xfrm>
            <a:off x="4709160" y="1005840"/>
            <a:ext cx="4206240" cy="347472"/>
          </a:xfrm>
          <a:prstGeom prst="rect">
            <a:avLst/>
          </a:prstGeom>
          <a:solidFill>
            <a:srgbClr val="0D1B2A">
              <a:alpha val="94901"/>
            </a:srgbClr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0"/>
          <p:cNvSpPr/>
          <p:nvPr/>
        </p:nvSpPr>
        <p:spPr>
          <a:xfrm>
            <a:off x="4709160" y="1005840"/>
            <a:ext cx="64008" cy="193852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0"/>
          <p:cNvSpPr/>
          <p:nvPr/>
        </p:nvSpPr>
        <p:spPr>
          <a:xfrm>
            <a:off x="4846320" y="1033272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NAT — Network Address Translation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0"/>
          <p:cNvSpPr/>
          <p:nvPr/>
        </p:nvSpPr>
        <p:spPr>
          <a:xfrm>
            <a:off x="4846320" y="1408176"/>
            <a:ext cx="39776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Static NAT: 1:1 IP privada ↔ IP pública (servidores)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Dynamic NAT: pool de IPs públicas asignadas dinámicamente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PAT / Overload: N:1, distingue por puerto TCP/UDP origen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Inside local / Inside global / Outside local / Outside global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Requerido por agotamiento IPv4 (RFC 1918)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228600" y="3035808"/>
            <a:ext cx="4206240" cy="19385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0"/>
          <p:cNvSpPr/>
          <p:nvPr/>
        </p:nvSpPr>
        <p:spPr>
          <a:xfrm>
            <a:off x="228600" y="3035808"/>
            <a:ext cx="4206240" cy="347472"/>
          </a:xfrm>
          <a:prstGeom prst="rect">
            <a:avLst/>
          </a:prstGeom>
          <a:solidFill>
            <a:srgbClr val="0D1B2A">
              <a:alpha val="94901"/>
            </a:srgbClr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0"/>
          <p:cNvSpPr/>
          <p:nvPr/>
        </p:nvSpPr>
        <p:spPr>
          <a:xfrm>
            <a:off x="228600" y="3035808"/>
            <a:ext cx="64008" cy="1938528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0"/>
          <p:cNvSpPr/>
          <p:nvPr/>
        </p:nvSpPr>
        <p:spPr>
          <a:xfrm>
            <a:off x="365760" y="3063240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Firewall Stateful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365760" y="3438144"/>
            <a:ext cx="39776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Inspección de estado de conexión (connection table)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Permite tráfico de retorno sin regla explícita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Zones: INSIDE, OUTSIDE, DMZ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Default policy: deny inter-zone (principio mínimo privilegio)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Cisco: Zone-Based Firewall | pfSense | FortiGate | Juniper SRX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4709160" y="3035808"/>
            <a:ext cx="4206240" cy="19385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B70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0"/>
          <p:cNvSpPr/>
          <p:nvPr/>
        </p:nvSpPr>
        <p:spPr>
          <a:xfrm>
            <a:off x="4709160" y="3035808"/>
            <a:ext cx="4206240" cy="347472"/>
          </a:xfrm>
          <a:prstGeom prst="rect">
            <a:avLst/>
          </a:prstGeom>
          <a:solidFill>
            <a:srgbClr val="0D1B2A">
              <a:alpha val="94901"/>
            </a:srgbClr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0"/>
          <p:cNvSpPr/>
          <p:nvPr/>
        </p:nvSpPr>
        <p:spPr>
          <a:xfrm>
            <a:off x="4709160" y="3035808"/>
            <a:ext cx="64008" cy="1938528"/>
          </a:xfrm>
          <a:prstGeom prst="rect">
            <a:avLst/>
          </a:prstGeom>
          <a:solidFill>
            <a:srgbClr val="FFB703"/>
          </a:solidFill>
          <a:ln cap="flat" cmpd="sng" w="12700">
            <a:solidFill>
              <a:srgbClr val="FFB70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0"/>
          <p:cNvSpPr/>
          <p:nvPr/>
        </p:nvSpPr>
        <p:spPr>
          <a:xfrm>
            <a:off x="4846320" y="3063240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70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B703"/>
                </a:solidFill>
                <a:latin typeface="Calibri"/>
                <a:ea typeface="Calibri"/>
                <a:cs typeface="Calibri"/>
                <a:sym typeface="Calibri"/>
              </a:rPr>
              <a:t>DMZ — Demilitarized Zone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4846320" y="3438144"/>
            <a:ext cx="39776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Segmento aislado para servicios públicos (web, mail, DNS)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Internet → DMZ: permitido (HTTP/HTTPS/DNS)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DMZ → LAN interna: bloqueado por defecto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Minimiza exposición ante compromiso de servidor público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Arquitectura: Dual-firewall o single-firewall 3 interfaces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E45"/>
          </a:solidFill>
          <a:ln cap="flat" cmpd="sng" w="12700">
            <a:solidFill>
              <a:srgbClr val="1B2E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72585"/>
          </a:solidFill>
          <a:ln cap="flat" cmpd="sng" w="12700">
            <a:solidFill>
              <a:srgbClr val="F725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1"/>
          <p:cNvSpPr/>
          <p:nvPr/>
        </p:nvSpPr>
        <p:spPr>
          <a:xfrm>
            <a:off x="274320" y="0"/>
            <a:ext cx="86868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Diagnóstico de Red — Metodología y Herramientas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274320" y="1097280"/>
            <a:ext cx="457200" cy="457200"/>
          </a:xfrm>
          <a:prstGeom prst="ellipse">
            <a:avLst/>
          </a:prstGeom>
          <a:solidFill>
            <a:srgbClr val="F72585"/>
          </a:solidFill>
          <a:ln cap="flat" cmpd="sng" w="12700">
            <a:solidFill>
              <a:srgbClr val="F725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1"/>
          <p:cNvSpPr/>
          <p:nvPr/>
        </p:nvSpPr>
        <p:spPr>
          <a:xfrm>
            <a:off x="274320" y="10972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822960" y="100584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Identificar el síntoma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822960" y="1298448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¿Qué no funciona? ¿Desde cuándo? ¿Quién afecta?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1"/>
          <p:cNvSpPr/>
          <p:nvPr/>
        </p:nvSpPr>
        <p:spPr>
          <a:xfrm>
            <a:off x="274320" y="1755648"/>
            <a:ext cx="457200" cy="457200"/>
          </a:xfrm>
          <a:prstGeom prst="ellipse">
            <a:avLst/>
          </a:prstGeom>
          <a:solidFill>
            <a:srgbClr val="F72585"/>
          </a:solidFill>
          <a:ln cap="flat" cmpd="sng" w="12700">
            <a:solidFill>
              <a:srgbClr val="F725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1"/>
          <p:cNvSpPr/>
          <p:nvPr/>
        </p:nvSpPr>
        <p:spPr>
          <a:xfrm>
            <a:off x="274320" y="17556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822960" y="1664208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Recopilar información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1"/>
          <p:cNvSpPr/>
          <p:nvPr/>
        </p:nvSpPr>
        <p:spPr>
          <a:xfrm>
            <a:off x="822960" y="1956816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Logs, show commands, traceroute, entrevista usuario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1"/>
          <p:cNvSpPr/>
          <p:nvPr/>
        </p:nvSpPr>
        <p:spPr>
          <a:xfrm>
            <a:off x="274320" y="2414016"/>
            <a:ext cx="457200" cy="457200"/>
          </a:xfrm>
          <a:prstGeom prst="ellipse">
            <a:avLst/>
          </a:prstGeom>
          <a:solidFill>
            <a:srgbClr val="F72585"/>
          </a:solidFill>
          <a:ln cap="flat" cmpd="sng" w="12700">
            <a:solidFill>
              <a:srgbClr val="F725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1"/>
          <p:cNvSpPr/>
          <p:nvPr/>
        </p:nvSpPr>
        <p:spPr>
          <a:xfrm>
            <a:off x="274320" y="241401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1"/>
          <p:cNvSpPr/>
          <p:nvPr/>
        </p:nvSpPr>
        <p:spPr>
          <a:xfrm>
            <a:off x="822960" y="232257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Aislar por capas OSI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1"/>
          <p:cNvSpPr/>
          <p:nvPr/>
        </p:nvSpPr>
        <p:spPr>
          <a:xfrm>
            <a:off x="822960" y="2615184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Física → Enlace → Red → Transporte → Aplicación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1"/>
          <p:cNvSpPr/>
          <p:nvPr/>
        </p:nvSpPr>
        <p:spPr>
          <a:xfrm>
            <a:off x="274320" y="3072384"/>
            <a:ext cx="457200" cy="457200"/>
          </a:xfrm>
          <a:prstGeom prst="ellipse">
            <a:avLst/>
          </a:prstGeom>
          <a:solidFill>
            <a:srgbClr val="F72585"/>
          </a:solidFill>
          <a:ln cap="flat" cmpd="sng" w="12700">
            <a:solidFill>
              <a:srgbClr val="F725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1"/>
          <p:cNvSpPr/>
          <p:nvPr/>
        </p:nvSpPr>
        <p:spPr>
          <a:xfrm>
            <a:off x="274320" y="307238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1"/>
          <p:cNvSpPr/>
          <p:nvPr/>
        </p:nvSpPr>
        <p:spPr>
          <a:xfrm>
            <a:off x="822960" y="2980944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Hipótesis y plan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1"/>
          <p:cNvSpPr/>
          <p:nvPr/>
        </p:nvSpPr>
        <p:spPr>
          <a:xfrm>
            <a:off x="822960" y="3273552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Mayor a menor probabilidad. No cambiar múltiples vars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274320" y="3730752"/>
            <a:ext cx="457200" cy="457200"/>
          </a:xfrm>
          <a:prstGeom prst="ellipse">
            <a:avLst/>
          </a:prstGeom>
          <a:solidFill>
            <a:srgbClr val="F72585"/>
          </a:solidFill>
          <a:ln cap="flat" cmpd="sng" w="12700">
            <a:solidFill>
              <a:srgbClr val="F725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1"/>
          <p:cNvSpPr/>
          <p:nvPr/>
        </p:nvSpPr>
        <p:spPr>
          <a:xfrm>
            <a:off x="274320" y="373075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1"/>
          <p:cNvSpPr/>
          <p:nvPr/>
        </p:nvSpPr>
        <p:spPr>
          <a:xfrm>
            <a:off x="822960" y="3639312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Implementar solución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1"/>
          <p:cNvSpPr/>
          <p:nvPr/>
        </p:nvSpPr>
        <p:spPr>
          <a:xfrm>
            <a:off x="822960" y="3931920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Un cambio a la vez. Documentar cada acción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1"/>
          <p:cNvSpPr/>
          <p:nvPr/>
        </p:nvSpPr>
        <p:spPr>
          <a:xfrm>
            <a:off x="274320" y="4389120"/>
            <a:ext cx="457200" cy="457200"/>
          </a:xfrm>
          <a:prstGeom prst="ellipse">
            <a:avLst/>
          </a:prstGeom>
          <a:solidFill>
            <a:srgbClr val="F72585"/>
          </a:solidFill>
          <a:ln cap="flat" cmpd="sng" w="12700">
            <a:solidFill>
              <a:srgbClr val="F725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1"/>
          <p:cNvSpPr/>
          <p:nvPr/>
        </p:nvSpPr>
        <p:spPr>
          <a:xfrm>
            <a:off x="274320" y="43891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1"/>
          <p:cNvSpPr/>
          <p:nvPr/>
        </p:nvSpPr>
        <p:spPr>
          <a:xfrm>
            <a:off x="822960" y="429768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Verificar y cerrar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1"/>
          <p:cNvSpPr/>
          <p:nvPr/>
        </p:nvSpPr>
        <p:spPr>
          <a:xfrm>
            <a:off x="822960" y="4590288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ping, show, test completo. Rollback si falla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1"/>
          <p:cNvSpPr/>
          <p:nvPr/>
        </p:nvSpPr>
        <p:spPr>
          <a:xfrm>
            <a:off x="4846320" y="1005840"/>
            <a:ext cx="4069080" cy="3931920"/>
          </a:xfrm>
          <a:prstGeom prst="rect">
            <a:avLst/>
          </a:prstGeom>
          <a:solidFill>
            <a:srgbClr val="243B55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1"/>
          <p:cNvSpPr/>
          <p:nvPr/>
        </p:nvSpPr>
        <p:spPr>
          <a:xfrm>
            <a:off x="4846320" y="1005840"/>
            <a:ext cx="4069080" cy="347472"/>
          </a:xfrm>
          <a:prstGeom prst="rect">
            <a:avLst/>
          </a:prstGeom>
          <a:solidFill>
            <a:srgbClr val="1B2E45"/>
          </a:solidFill>
          <a:ln cap="flat" cmpd="sng" w="12700">
            <a:solidFill>
              <a:srgbClr val="1B2E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1"/>
          <p:cNvSpPr/>
          <p:nvPr/>
        </p:nvSpPr>
        <p:spPr>
          <a:xfrm>
            <a:off x="4937760" y="1005840"/>
            <a:ext cx="3886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Herramientas de Diagnóstico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1"/>
          <p:cNvSpPr/>
          <p:nvPr/>
        </p:nvSpPr>
        <p:spPr>
          <a:xfrm>
            <a:off x="4892040" y="1444752"/>
            <a:ext cx="64008" cy="438912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1"/>
          <p:cNvSpPr/>
          <p:nvPr/>
        </p:nvSpPr>
        <p:spPr>
          <a:xfrm>
            <a:off x="5029200" y="1444752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6D6A0"/>
                </a:solidFill>
                <a:latin typeface="Consolas"/>
                <a:ea typeface="Consolas"/>
                <a:cs typeface="Consolas"/>
                <a:sym typeface="Consolas"/>
              </a:rPr>
              <a:t>ping / ping6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1"/>
          <p:cNvSpPr/>
          <p:nvPr/>
        </p:nvSpPr>
        <p:spPr>
          <a:xfrm>
            <a:off x="5029200" y="1673352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ICMP echo — verifica conectividad L3, RTT y pérdida de paquetes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1"/>
          <p:cNvSpPr/>
          <p:nvPr/>
        </p:nvSpPr>
        <p:spPr>
          <a:xfrm>
            <a:off x="4892040" y="2011680"/>
            <a:ext cx="64008" cy="43891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1"/>
          <p:cNvSpPr/>
          <p:nvPr/>
        </p:nvSpPr>
        <p:spPr>
          <a:xfrm>
            <a:off x="5029200" y="2011680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traceroute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1"/>
          <p:cNvSpPr/>
          <p:nvPr/>
        </p:nvSpPr>
        <p:spPr>
          <a:xfrm>
            <a:off x="5029200" y="2240280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TTL expiry — mapea saltos, identifica punto de fallo o lentitud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1"/>
          <p:cNvSpPr/>
          <p:nvPr/>
        </p:nvSpPr>
        <p:spPr>
          <a:xfrm>
            <a:off x="4892040" y="2578608"/>
            <a:ext cx="64008" cy="438912"/>
          </a:xfrm>
          <a:prstGeom prst="rect">
            <a:avLst/>
          </a:prstGeom>
          <a:solidFill>
            <a:srgbClr val="FFB703"/>
          </a:solidFill>
          <a:ln cap="flat" cmpd="sng" w="12700">
            <a:solidFill>
              <a:srgbClr val="FFB70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1"/>
          <p:cNvSpPr/>
          <p:nvPr/>
        </p:nvSpPr>
        <p:spPr>
          <a:xfrm>
            <a:off x="5029200" y="2578608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703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FB703"/>
                </a:solidFill>
                <a:latin typeface="Consolas"/>
                <a:ea typeface="Consolas"/>
                <a:cs typeface="Consolas"/>
                <a:sym typeface="Consolas"/>
              </a:rPr>
              <a:t>nmap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1"/>
          <p:cNvSpPr/>
          <p:nvPr/>
        </p:nvSpPr>
        <p:spPr>
          <a:xfrm>
            <a:off x="5029200" y="2807208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Port scan, detección de OS, auditoría de superficie de ataque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1"/>
          <p:cNvSpPr/>
          <p:nvPr/>
        </p:nvSpPr>
        <p:spPr>
          <a:xfrm>
            <a:off x="4892040" y="3145536"/>
            <a:ext cx="64008" cy="438912"/>
          </a:xfrm>
          <a:prstGeom prst="rect">
            <a:avLst/>
          </a:prstGeom>
          <a:solidFill>
            <a:srgbClr val="F72585"/>
          </a:solidFill>
          <a:ln cap="flat" cmpd="sng" w="12700">
            <a:solidFill>
              <a:srgbClr val="F725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1"/>
          <p:cNvSpPr/>
          <p:nvPr/>
        </p:nvSpPr>
        <p:spPr>
          <a:xfrm>
            <a:off x="5029200" y="3145536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2585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72585"/>
                </a:solidFill>
                <a:latin typeface="Consolas"/>
                <a:ea typeface="Consolas"/>
                <a:cs typeface="Consolas"/>
                <a:sym typeface="Consolas"/>
              </a:rPr>
              <a:t>Wireshark / tcpdump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1"/>
          <p:cNvSpPr/>
          <p:nvPr/>
        </p:nvSpPr>
        <p:spPr>
          <a:xfrm>
            <a:off x="5029200" y="3374136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Captura y análisis de tráfico a nivel de trama/paquete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1"/>
          <p:cNvSpPr/>
          <p:nvPr/>
        </p:nvSpPr>
        <p:spPr>
          <a:xfrm>
            <a:off x="4892040" y="3712464"/>
            <a:ext cx="64008" cy="438912"/>
          </a:xfrm>
          <a:prstGeom prst="rect">
            <a:avLst/>
          </a:prstGeom>
          <a:solidFill>
            <a:srgbClr val="48CAE4"/>
          </a:solidFill>
          <a:ln cap="flat" cmpd="sng" w="12700">
            <a:solidFill>
              <a:srgbClr val="48CA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1"/>
          <p:cNvSpPr/>
          <p:nvPr/>
        </p:nvSpPr>
        <p:spPr>
          <a:xfrm>
            <a:off x="5029200" y="3712464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CAE4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48CAE4"/>
                </a:solidFill>
                <a:latin typeface="Consolas"/>
                <a:ea typeface="Consolas"/>
                <a:cs typeface="Consolas"/>
                <a:sym typeface="Consolas"/>
              </a:rPr>
              <a:t>show ip route / arp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1"/>
          <p:cNvSpPr/>
          <p:nvPr/>
        </p:nvSpPr>
        <p:spPr>
          <a:xfrm>
            <a:off x="5029200" y="3941064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Verificación de tablas de routing, ARP, CAM en Cisco IOS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1"/>
          <p:cNvSpPr/>
          <p:nvPr/>
        </p:nvSpPr>
        <p:spPr>
          <a:xfrm>
            <a:off x="4892040" y="4279392"/>
            <a:ext cx="64008" cy="438912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1"/>
          <p:cNvSpPr/>
          <p:nvPr/>
        </p:nvSpPr>
        <p:spPr>
          <a:xfrm>
            <a:off x="5029200" y="4279392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CBD5E1"/>
                </a:solidFill>
                <a:latin typeface="Consolas"/>
                <a:ea typeface="Consolas"/>
                <a:cs typeface="Consolas"/>
                <a:sym typeface="Consolas"/>
              </a:rPr>
              <a:t>netstat / 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1"/>
          <p:cNvSpPr/>
          <p:nvPr/>
        </p:nvSpPr>
        <p:spPr>
          <a:xfrm>
            <a:off x="5029200" y="4507992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Conexiones activas, puertos en escucha, estadísticas de socket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A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Certificaciones de la Industria — Tu Camino Profesional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2"/>
          <p:cNvSpPr/>
          <p:nvPr/>
        </p:nvSpPr>
        <p:spPr>
          <a:xfrm>
            <a:off x="228600" y="1005840"/>
            <a:ext cx="868680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2"/>
          <p:cNvSpPr/>
          <p:nvPr/>
        </p:nvSpPr>
        <p:spPr>
          <a:xfrm>
            <a:off x="228600" y="1005840"/>
            <a:ext cx="64008" cy="86868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2"/>
          <p:cNvSpPr/>
          <p:nvPr/>
        </p:nvSpPr>
        <p:spPr>
          <a:xfrm>
            <a:off x="365760" y="1078992"/>
            <a:ext cx="1463040" cy="320040"/>
          </a:xfrm>
          <a:prstGeom prst="rect">
            <a:avLst/>
          </a:prstGeom>
          <a:solidFill>
            <a:srgbClr val="00B4D8">
              <a:alpha val="90196"/>
            </a:srgbClr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2"/>
          <p:cNvSpPr/>
          <p:nvPr/>
        </p:nvSpPr>
        <p:spPr>
          <a:xfrm>
            <a:off x="365760" y="1078992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Cisco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2"/>
          <p:cNvSpPr/>
          <p:nvPr/>
        </p:nvSpPr>
        <p:spPr>
          <a:xfrm>
            <a:off x="365760" y="1463040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Associate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2"/>
          <p:cNvSpPr/>
          <p:nvPr/>
        </p:nvSpPr>
        <p:spPr>
          <a:xfrm>
            <a:off x="1965960" y="107899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CCNA 200-301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2"/>
          <p:cNvSpPr/>
          <p:nvPr/>
        </p:nvSpPr>
        <p:spPr>
          <a:xfrm>
            <a:off x="1965960" y="1426464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Temas: Routing, Switching, Security, Wireless, Automation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2"/>
          <p:cNvSpPr/>
          <p:nvPr/>
        </p:nvSpPr>
        <p:spPr>
          <a:xfrm>
            <a:off x="5806440" y="111556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Carrera: CCNA → CCNP Enterprise → CCIE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2"/>
          <p:cNvSpPr/>
          <p:nvPr/>
        </p:nvSpPr>
        <p:spPr>
          <a:xfrm>
            <a:off x="5806440" y="1481328"/>
            <a:ext cx="2286000" cy="237744"/>
          </a:xfrm>
          <a:prstGeom prst="rect">
            <a:avLst/>
          </a:prstGeom>
          <a:solidFill>
            <a:srgbClr val="00B4D8">
              <a:alpha val="14901"/>
            </a:srgbClr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2"/>
          <p:cNvSpPr/>
          <p:nvPr/>
        </p:nvSpPr>
        <p:spPr>
          <a:xfrm>
            <a:off x="5806440" y="1481328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709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A7090"/>
                </a:solidFill>
                <a:latin typeface="Calibri"/>
                <a:ea typeface="Calibri"/>
                <a:cs typeface="Calibri"/>
                <a:sym typeface="Calibri"/>
              </a:rPr>
              <a:t>~USD 65–95k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2"/>
          <p:cNvSpPr/>
          <p:nvPr/>
        </p:nvSpPr>
        <p:spPr>
          <a:xfrm>
            <a:off x="228600" y="1993392"/>
            <a:ext cx="868680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2"/>
          <p:cNvSpPr/>
          <p:nvPr/>
        </p:nvSpPr>
        <p:spPr>
          <a:xfrm>
            <a:off x="228600" y="1993392"/>
            <a:ext cx="64008" cy="868680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2"/>
          <p:cNvSpPr/>
          <p:nvPr/>
        </p:nvSpPr>
        <p:spPr>
          <a:xfrm>
            <a:off x="365760" y="2066544"/>
            <a:ext cx="1463040" cy="320040"/>
          </a:xfrm>
          <a:prstGeom prst="rect">
            <a:avLst/>
          </a:prstGeom>
          <a:solidFill>
            <a:srgbClr val="06D6A0">
              <a:alpha val="90196"/>
            </a:srgbClr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2"/>
          <p:cNvSpPr/>
          <p:nvPr/>
        </p:nvSpPr>
        <p:spPr>
          <a:xfrm>
            <a:off x="365760" y="2066544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MikroTik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2"/>
          <p:cNvSpPr/>
          <p:nvPr/>
        </p:nvSpPr>
        <p:spPr>
          <a:xfrm>
            <a:off x="365760" y="2450592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Network Associate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2"/>
          <p:cNvSpPr/>
          <p:nvPr/>
        </p:nvSpPr>
        <p:spPr>
          <a:xfrm>
            <a:off x="1965960" y="2066544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MTCNA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2"/>
          <p:cNvSpPr/>
          <p:nvPr/>
        </p:nvSpPr>
        <p:spPr>
          <a:xfrm>
            <a:off x="1965960" y="2414016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Temas: RouterOS, Firewall, Routing, VPN, QoS, Hotspot, Wireless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2"/>
          <p:cNvSpPr/>
          <p:nvPr/>
        </p:nvSpPr>
        <p:spPr>
          <a:xfrm>
            <a:off x="5806440" y="210312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Carrera: MTCNA → MTCRE → MTCINE (Expert)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2"/>
          <p:cNvSpPr/>
          <p:nvPr/>
        </p:nvSpPr>
        <p:spPr>
          <a:xfrm>
            <a:off x="5806440" y="2468880"/>
            <a:ext cx="2286000" cy="237744"/>
          </a:xfrm>
          <a:prstGeom prst="rect">
            <a:avLst/>
          </a:prstGeom>
          <a:solidFill>
            <a:srgbClr val="06D6A0">
              <a:alpha val="14901"/>
            </a:srgbClr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2"/>
          <p:cNvSpPr/>
          <p:nvPr/>
        </p:nvSpPr>
        <p:spPr>
          <a:xfrm>
            <a:off x="5806440" y="246888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~USD 40–70k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2"/>
          <p:cNvSpPr/>
          <p:nvPr/>
        </p:nvSpPr>
        <p:spPr>
          <a:xfrm>
            <a:off x="228600" y="2980944"/>
            <a:ext cx="868680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2"/>
          <p:cNvSpPr/>
          <p:nvPr/>
        </p:nvSpPr>
        <p:spPr>
          <a:xfrm>
            <a:off x="228600" y="2980944"/>
            <a:ext cx="64008" cy="868680"/>
          </a:xfrm>
          <a:prstGeom prst="rect">
            <a:avLst/>
          </a:prstGeom>
          <a:solidFill>
            <a:srgbClr val="FFB703"/>
          </a:solidFill>
          <a:ln cap="flat" cmpd="sng" w="12700">
            <a:solidFill>
              <a:srgbClr val="FFB70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2"/>
          <p:cNvSpPr/>
          <p:nvPr/>
        </p:nvSpPr>
        <p:spPr>
          <a:xfrm>
            <a:off x="365760" y="3054096"/>
            <a:ext cx="1463040" cy="320040"/>
          </a:xfrm>
          <a:prstGeom prst="rect">
            <a:avLst/>
          </a:prstGeom>
          <a:solidFill>
            <a:srgbClr val="FFB703">
              <a:alpha val="90196"/>
            </a:srgbClr>
          </a:solidFill>
          <a:ln cap="flat" cmpd="sng" w="12700">
            <a:solidFill>
              <a:srgbClr val="FFB70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2"/>
          <p:cNvSpPr/>
          <p:nvPr/>
        </p:nvSpPr>
        <p:spPr>
          <a:xfrm>
            <a:off x="365760" y="3054096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Juniper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2"/>
          <p:cNvSpPr/>
          <p:nvPr/>
        </p:nvSpPr>
        <p:spPr>
          <a:xfrm>
            <a:off x="365760" y="3438144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70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B703"/>
                </a:solidFill>
                <a:latin typeface="Calibri"/>
                <a:ea typeface="Calibri"/>
                <a:cs typeface="Calibri"/>
                <a:sym typeface="Calibri"/>
              </a:rPr>
              <a:t>Associate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2"/>
          <p:cNvSpPr/>
          <p:nvPr/>
        </p:nvSpPr>
        <p:spPr>
          <a:xfrm>
            <a:off x="1965960" y="3054096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JNCIA-Junos JN0-104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2"/>
          <p:cNvSpPr/>
          <p:nvPr/>
        </p:nvSpPr>
        <p:spPr>
          <a:xfrm>
            <a:off x="1965960" y="3401568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Temas: Junos OS, routing policies, firewall filters, J-Web, CLI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2"/>
          <p:cNvSpPr/>
          <p:nvPr/>
        </p:nvSpPr>
        <p:spPr>
          <a:xfrm>
            <a:off x="5806440" y="309067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Carrera: JNCIA → JNCIS-SP/ENT → JNCIE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2"/>
          <p:cNvSpPr/>
          <p:nvPr/>
        </p:nvSpPr>
        <p:spPr>
          <a:xfrm>
            <a:off x="5806440" y="3456432"/>
            <a:ext cx="2286000" cy="237744"/>
          </a:xfrm>
          <a:prstGeom prst="rect">
            <a:avLst/>
          </a:prstGeom>
          <a:solidFill>
            <a:srgbClr val="FFB703">
              <a:alpha val="14901"/>
            </a:srgbClr>
          </a:solidFill>
          <a:ln cap="flat" cmpd="sng" w="12700">
            <a:solidFill>
              <a:srgbClr val="FFB70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2"/>
          <p:cNvSpPr/>
          <p:nvPr/>
        </p:nvSpPr>
        <p:spPr>
          <a:xfrm>
            <a:off x="5806440" y="3456432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~USD 70–100k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2"/>
          <p:cNvSpPr/>
          <p:nvPr/>
        </p:nvSpPr>
        <p:spPr>
          <a:xfrm>
            <a:off x="228600" y="3968496"/>
            <a:ext cx="868680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2"/>
          <p:cNvSpPr/>
          <p:nvPr/>
        </p:nvSpPr>
        <p:spPr>
          <a:xfrm>
            <a:off x="228600" y="3968496"/>
            <a:ext cx="64008" cy="868680"/>
          </a:xfrm>
          <a:prstGeom prst="rect">
            <a:avLst/>
          </a:prstGeom>
          <a:solidFill>
            <a:srgbClr val="C084FC"/>
          </a:solidFill>
          <a:ln cap="flat" cmpd="sng" w="12700">
            <a:solidFill>
              <a:srgbClr val="C084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2"/>
          <p:cNvSpPr/>
          <p:nvPr/>
        </p:nvSpPr>
        <p:spPr>
          <a:xfrm>
            <a:off x="365760" y="4041648"/>
            <a:ext cx="1463040" cy="320040"/>
          </a:xfrm>
          <a:prstGeom prst="rect">
            <a:avLst/>
          </a:prstGeom>
          <a:solidFill>
            <a:srgbClr val="C084FC">
              <a:alpha val="90196"/>
            </a:srgbClr>
          </a:solidFill>
          <a:ln cap="flat" cmpd="sng" w="12700">
            <a:solidFill>
              <a:srgbClr val="C084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2"/>
          <p:cNvSpPr/>
          <p:nvPr/>
        </p:nvSpPr>
        <p:spPr>
          <a:xfrm>
            <a:off x="365760" y="4041648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CompTIA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2"/>
          <p:cNvSpPr/>
          <p:nvPr/>
        </p:nvSpPr>
        <p:spPr>
          <a:xfrm>
            <a:off x="365760" y="4425696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084FC"/>
                </a:solidFill>
                <a:latin typeface="Calibri"/>
                <a:ea typeface="Calibri"/>
                <a:cs typeface="Calibri"/>
                <a:sym typeface="Calibri"/>
              </a:rPr>
              <a:t>Entry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2"/>
          <p:cNvSpPr/>
          <p:nvPr/>
        </p:nvSpPr>
        <p:spPr>
          <a:xfrm>
            <a:off x="1965960" y="4041648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Network+ N10-009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2"/>
          <p:cNvSpPr/>
          <p:nvPr/>
        </p:nvSpPr>
        <p:spPr>
          <a:xfrm>
            <a:off x="1965960" y="438912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Temas: Vendor-neutral: TCP/IP, seguridad básica, troubleshooting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2"/>
          <p:cNvSpPr/>
          <p:nvPr/>
        </p:nvSpPr>
        <p:spPr>
          <a:xfrm>
            <a:off x="5806440" y="407822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Carrera: Network+ → Security+ → CySA+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2"/>
          <p:cNvSpPr/>
          <p:nvPr/>
        </p:nvSpPr>
        <p:spPr>
          <a:xfrm>
            <a:off x="5806440" y="4443984"/>
            <a:ext cx="2286000" cy="237744"/>
          </a:xfrm>
          <a:prstGeom prst="rect">
            <a:avLst/>
          </a:prstGeom>
          <a:solidFill>
            <a:srgbClr val="C084FC">
              <a:alpha val="14901"/>
            </a:srgbClr>
          </a:solidFill>
          <a:ln cap="flat" cmpd="sng" w="12700">
            <a:solidFill>
              <a:srgbClr val="C084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2"/>
          <p:cNvSpPr/>
          <p:nvPr/>
        </p:nvSpPr>
        <p:spPr>
          <a:xfrm>
            <a:off x="5806440" y="4443984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~USD 50–70k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3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E45"/>
          </a:solidFill>
          <a:ln cap="flat" cmpd="sng" w="12700">
            <a:solidFill>
              <a:srgbClr val="1B2E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3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3"/>
          <p:cNvSpPr/>
          <p:nvPr/>
        </p:nvSpPr>
        <p:spPr>
          <a:xfrm>
            <a:off x="274320" y="0"/>
            <a:ext cx="86868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Laboratorio 1 — Red Básica + Verificación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3"/>
          <p:cNvSpPr/>
          <p:nvPr/>
        </p:nvSpPr>
        <p:spPr>
          <a:xfrm>
            <a:off x="274320" y="1188720"/>
            <a:ext cx="1463040" cy="640080"/>
          </a:xfrm>
          <a:prstGeom prst="rect">
            <a:avLst/>
          </a:prstGeom>
          <a:solidFill>
            <a:srgbClr val="243B55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3"/>
          <p:cNvSpPr/>
          <p:nvPr/>
        </p:nvSpPr>
        <p:spPr>
          <a:xfrm>
            <a:off x="274320" y="1188720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PC1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192.168.1.10/24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3"/>
          <p:cNvSpPr/>
          <p:nvPr/>
        </p:nvSpPr>
        <p:spPr>
          <a:xfrm>
            <a:off x="274320" y="2286000"/>
            <a:ext cx="1463040" cy="640080"/>
          </a:xfrm>
          <a:prstGeom prst="rect">
            <a:avLst/>
          </a:prstGeom>
          <a:solidFill>
            <a:srgbClr val="243B55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3"/>
          <p:cNvSpPr/>
          <p:nvPr/>
        </p:nvSpPr>
        <p:spPr>
          <a:xfrm>
            <a:off x="274320" y="2286000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PC2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192.168.1.20/24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3"/>
          <p:cNvSpPr/>
          <p:nvPr/>
        </p:nvSpPr>
        <p:spPr>
          <a:xfrm>
            <a:off x="274320" y="3383280"/>
            <a:ext cx="1463040" cy="640080"/>
          </a:xfrm>
          <a:prstGeom prst="rect">
            <a:avLst/>
          </a:prstGeom>
          <a:solidFill>
            <a:srgbClr val="243B55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3"/>
          <p:cNvSpPr/>
          <p:nvPr/>
        </p:nvSpPr>
        <p:spPr>
          <a:xfrm>
            <a:off x="274320" y="3383280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PC3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192.168.1.30/24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3"/>
          <p:cNvSpPr/>
          <p:nvPr/>
        </p:nvSpPr>
        <p:spPr>
          <a:xfrm>
            <a:off x="2103120" y="2103120"/>
            <a:ext cx="1645920" cy="822960"/>
          </a:xfrm>
          <a:prstGeom prst="rect">
            <a:avLst/>
          </a:prstGeom>
          <a:solidFill>
            <a:srgbClr val="243B55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3"/>
          <p:cNvSpPr/>
          <p:nvPr/>
        </p:nvSpPr>
        <p:spPr>
          <a:xfrm>
            <a:off x="2103120" y="2103120"/>
            <a:ext cx="1645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SW-01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Cisco 2960 / GNS3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3"/>
          <p:cNvSpPr/>
          <p:nvPr/>
        </p:nvSpPr>
        <p:spPr>
          <a:xfrm>
            <a:off x="4114800" y="2103120"/>
            <a:ext cx="1645920" cy="822960"/>
          </a:xfrm>
          <a:prstGeom prst="rect">
            <a:avLst/>
          </a:prstGeom>
          <a:solidFill>
            <a:srgbClr val="243B55"/>
          </a:solidFill>
          <a:ln cap="flat" cmpd="sng" w="12700">
            <a:solidFill>
              <a:srgbClr val="FFB70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3"/>
          <p:cNvSpPr/>
          <p:nvPr/>
        </p:nvSpPr>
        <p:spPr>
          <a:xfrm>
            <a:off x="4114800" y="2103120"/>
            <a:ext cx="1645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70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B703"/>
                </a:solidFill>
                <a:latin typeface="Calibri"/>
                <a:ea typeface="Calibri"/>
                <a:cs typeface="Calibri"/>
                <a:sym typeface="Calibri"/>
              </a:rPr>
              <a:t>R-01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70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B703"/>
                </a:solidFill>
                <a:latin typeface="Calibri"/>
                <a:ea typeface="Calibri"/>
                <a:cs typeface="Calibri"/>
                <a:sym typeface="Calibri"/>
              </a:rPr>
              <a:t>Cisco 2911 / GNS3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3"/>
          <p:cNvSpPr/>
          <p:nvPr/>
        </p:nvSpPr>
        <p:spPr>
          <a:xfrm>
            <a:off x="6126480" y="1965960"/>
            <a:ext cx="1828800" cy="1097280"/>
          </a:xfrm>
          <a:prstGeom prst="ellipse">
            <a:avLst/>
          </a:prstGeom>
          <a:solidFill>
            <a:srgbClr val="1A2840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3"/>
          <p:cNvSpPr/>
          <p:nvPr/>
        </p:nvSpPr>
        <p:spPr>
          <a:xfrm>
            <a:off x="6126480" y="1965960"/>
            <a:ext cx="1828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ISP / Internet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200.10.10.0/30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3" name="Google Shape;453;p13"/>
          <p:cNvCxnSpPr/>
          <p:nvPr/>
        </p:nvCxnSpPr>
        <p:spPr>
          <a:xfrm>
            <a:off x="1737360" y="1508760"/>
            <a:ext cx="365760" cy="822960"/>
          </a:xfrm>
          <a:prstGeom prst="straightConnector1">
            <a:avLst/>
          </a:prstGeom>
          <a:noFill/>
          <a:ln cap="flat" cmpd="sng" w="19050">
            <a:solidFill>
              <a:srgbClr val="48CAE4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54" name="Google Shape;454;p13"/>
          <p:cNvCxnSpPr/>
          <p:nvPr/>
        </p:nvCxnSpPr>
        <p:spPr>
          <a:xfrm flipH="1" rot="10800000">
            <a:off x="1737360" y="2514600"/>
            <a:ext cx="365760" cy="91440"/>
          </a:xfrm>
          <a:prstGeom prst="straightConnector1">
            <a:avLst/>
          </a:prstGeom>
          <a:noFill/>
          <a:ln cap="flat" cmpd="sng" w="19050">
            <a:solidFill>
              <a:srgbClr val="48CAE4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55" name="Google Shape;455;p13"/>
          <p:cNvCxnSpPr/>
          <p:nvPr/>
        </p:nvCxnSpPr>
        <p:spPr>
          <a:xfrm flipH="1" rot="10800000">
            <a:off x="1737360" y="2697480"/>
            <a:ext cx="365760" cy="1005840"/>
          </a:xfrm>
          <a:prstGeom prst="straightConnector1">
            <a:avLst/>
          </a:prstGeom>
          <a:noFill/>
          <a:ln cap="flat" cmpd="sng" w="19050">
            <a:solidFill>
              <a:srgbClr val="48CAE4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56" name="Google Shape;456;p13"/>
          <p:cNvCxnSpPr/>
          <p:nvPr/>
        </p:nvCxnSpPr>
        <p:spPr>
          <a:xfrm>
            <a:off x="3749040" y="2514600"/>
            <a:ext cx="365760" cy="0"/>
          </a:xfrm>
          <a:prstGeom prst="straightConnector1">
            <a:avLst/>
          </a:prstGeom>
          <a:noFill/>
          <a:ln cap="flat" cmpd="sng" w="19050">
            <a:solidFill>
              <a:srgbClr val="48CAE4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57" name="Google Shape;457;p13"/>
          <p:cNvCxnSpPr/>
          <p:nvPr/>
        </p:nvCxnSpPr>
        <p:spPr>
          <a:xfrm>
            <a:off x="5760720" y="2514600"/>
            <a:ext cx="365760" cy="0"/>
          </a:xfrm>
          <a:prstGeom prst="straightConnector1">
            <a:avLst/>
          </a:prstGeom>
          <a:noFill/>
          <a:ln cap="flat" cmpd="sng" w="19050">
            <a:solidFill>
              <a:srgbClr val="48CAE4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58" name="Google Shape;458;p13"/>
          <p:cNvSpPr/>
          <p:nvPr/>
        </p:nvSpPr>
        <p:spPr>
          <a:xfrm>
            <a:off x="8229600" y="1097280"/>
            <a:ext cx="685800" cy="3657600"/>
          </a:xfrm>
          <a:prstGeom prst="rect">
            <a:avLst/>
          </a:prstGeom>
          <a:solidFill>
            <a:srgbClr val="243B55"/>
          </a:solidFill>
          <a:ln cap="flat" cmpd="sng" w="12700">
            <a:solidFill>
              <a:srgbClr val="243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3"/>
          <p:cNvSpPr/>
          <p:nvPr/>
        </p:nvSpPr>
        <p:spPr>
          <a:xfrm>
            <a:off x="228600" y="4206240"/>
            <a:ext cx="7772400" cy="896112"/>
          </a:xfrm>
          <a:prstGeom prst="rect">
            <a:avLst/>
          </a:prstGeom>
          <a:solidFill>
            <a:srgbClr val="243B55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3"/>
          <p:cNvSpPr/>
          <p:nvPr/>
        </p:nvSpPr>
        <p:spPr>
          <a:xfrm>
            <a:off x="228600" y="4206240"/>
            <a:ext cx="7772400" cy="347472"/>
          </a:xfrm>
          <a:prstGeom prst="rect">
            <a:avLst/>
          </a:prstGeom>
          <a:solidFill>
            <a:srgbClr val="1B2E45"/>
          </a:solidFill>
          <a:ln cap="flat" cmpd="sng" w="12700">
            <a:solidFill>
              <a:srgbClr val="1B2E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3"/>
          <p:cNvSpPr/>
          <p:nvPr/>
        </p:nvSpPr>
        <p:spPr>
          <a:xfrm>
            <a:off x="320040" y="4206240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Tareas del Lab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3"/>
          <p:cNvSpPr/>
          <p:nvPr/>
        </p:nvSpPr>
        <p:spPr>
          <a:xfrm>
            <a:off x="320040" y="4599432"/>
            <a:ext cx="7589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E8F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DE8F4"/>
                </a:solidFill>
                <a:latin typeface="Calibri"/>
                <a:ea typeface="Calibri"/>
                <a:cs typeface="Calibri"/>
                <a:sym typeface="Calibri"/>
              </a:rPr>
              <a:t>① Asignar IPs estáticas en PCs  ② Verificar: ping 192.168.1.20  ③ Ejecutar traceroute al router  ④ Capturar con Wireshark ICMP  ⑤ show mac address-table en switch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A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4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Roadmap del Semestre — 4 Unidades Técnicas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4"/>
          <p:cNvSpPr/>
          <p:nvPr/>
        </p:nvSpPr>
        <p:spPr>
          <a:xfrm>
            <a:off x="228600" y="1005840"/>
            <a:ext cx="2103120" cy="3931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4"/>
          <p:cNvSpPr/>
          <p:nvPr/>
        </p:nvSpPr>
        <p:spPr>
          <a:xfrm>
            <a:off x="228600" y="1005840"/>
            <a:ext cx="2103120" cy="804672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4"/>
          <p:cNvSpPr/>
          <p:nvPr/>
        </p:nvSpPr>
        <p:spPr>
          <a:xfrm>
            <a:off x="228600" y="1024128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4"/>
          <p:cNvSpPr/>
          <p:nvPr/>
        </p:nvSpPr>
        <p:spPr>
          <a:xfrm>
            <a:off x="228600" y="1417320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Semanas 1–4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4"/>
          <p:cNvSpPr/>
          <p:nvPr/>
        </p:nvSpPr>
        <p:spPr>
          <a:xfrm>
            <a:off x="320040" y="1874520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Conectividad LAN &amp; VLAN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4"/>
          <p:cNvSpPr/>
          <p:nvPr/>
        </p:nvSpPr>
        <p:spPr>
          <a:xfrm>
            <a:off x="320040" y="2359152"/>
            <a:ext cx="192024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Switch L2: CAM, STP, RSTP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VLAN, 802.1Q Trunk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Port-Security, DHCP Snooping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Inter-VLAN routing (RoaS / SVI)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4"/>
          <p:cNvSpPr/>
          <p:nvPr/>
        </p:nvSpPr>
        <p:spPr>
          <a:xfrm>
            <a:off x="228600" y="4343400"/>
            <a:ext cx="2103120" cy="548640"/>
          </a:xfrm>
          <a:prstGeom prst="rect">
            <a:avLst/>
          </a:prstGeom>
          <a:solidFill>
            <a:srgbClr val="06D6A0">
              <a:alpha val="18039"/>
            </a:srgbClr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4"/>
          <p:cNvSpPr/>
          <p:nvPr/>
        </p:nvSpPr>
        <p:spPr>
          <a:xfrm>
            <a:off x="283464" y="434340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CCNA: Switching | MTCNA: Bridge &amp; VLAN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4"/>
          <p:cNvSpPr/>
          <p:nvPr/>
        </p:nvSpPr>
        <p:spPr>
          <a:xfrm>
            <a:off x="2441448" y="1005840"/>
            <a:ext cx="2103120" cy="3931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4"/>
          <p:cNvSpPr/>
          <p:nvPr/>
        </p:nvSpPr>
        <p:spPr>
          <a:xfrm>
            <a:off x="2441448" y="1005840"/>
            <a:ext cx="2103120" cy="80467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4"/>
          <p:cNvSpPr/>
          <p:nvPr/>
        </p:nvSpPr>
        <p:spPr>
          <a:xfrm>
            <a:off x="2441448" y="1024128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4"/>
          <p:cNvSpPr/>
          <p:nvPr/>
        </p:nvSpPr>
        <p:spPr>
          <a:xfrm>
            <a:off x="2441448" y="1417320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Semanas 5–8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4"/>
          <p:cNvSpPr/>
          <p:nvPr/>
        </p:nvSpPr>
        <p:spPr>
          <a:xfrm>
            <a:off x="2532888" y="1874520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Routing IP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4"/>
          <p:cNvSpPr/>
          <p:nvPr/>
        </p:nvSpPr>
        <p:spPr>
          <a:xfrm>
            <a:off x="2532888" y="2359152"/>
            <a:ext cx="192024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Routing estático + default route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RIP v2, OSPF básico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Floating routes, load-balance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Redistribución de rutas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4"/>
          <p:cNvSpPr/>
          <p:nvPr/>
        </p:nvSpPr>
        <p:spPr>
          <a:xfrm>
            <a:off x="2441448" y="4343400"/>
            <a:ext cx="2103120" cy="548640"/>
          </a:xfrm>
          <a:prstGeom prst="rect">
            <a:avLst/>
          </a:prstGeom>
          <a:solidFill>
            <a:srgbClr val="00B4D8">
              <a:alpha val="18039"/>
            </a:srgbClr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4"/>
          <p:cNvSpPr/>
          <p:nvPr/>
        </p:nvSpPr>
        <p:spPr>
          <a:xfrm>
            <a:off x="2496312" y="434340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CCNA: Routing | MTCNA: Routing | JNCIA: Routing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4"/>
          <p:cNvSpPr/>
          <p:nvPr/>
        </p:nvSpPr>
        <p:spPr>
          <a:xfrm>
            <a:off x="4654296" y="1005840"/>
            <a:ext cx="2103120" cy="3931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7258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4"/>
          <p:cNvSpPr/>
          <p:nvPr/>
        </p:nvSpPr>
        <p:spPr>
          <a:xfrm>
            <a:off x="4654296" y="1005840"/>
            <a:ext cx="2103120" cy="804672"/>
          </a:xfrm>
          <a:prstGeom prst="rect">
            <a:avLst/>
          </a:prstGeom>
          <a:solidFill>
            <a:srgbClr val="F72585"/>
          </a:solidFill>
          <a:ln cap="flat" cmpd="sng" w="12700">
            <a:solidFill>
              <a:srgbClr val="F725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4"/>
          <p:cNvSpPr/>
          <p:nvPr/>
        </p:nvSpPr>
        <p:spPr>
          <a:xfrm>
            <a:off x="4654296" y="1024128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4"/>
          <p:cNvSpPr/>
          <p:nvPr/>
        </p:nvSpPr>
        <p:spPr>
          <a:xfrm>
            <a:off x="4654296" y="1417320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Semanas 9–12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4"/>
          <p:cNvSpPr/>
          <p:nvPr/>
        </p:nvSpPr>
        <p:spPr>
          <a:xfrm>
            <a:off x="4745736" y="1874520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Seguridad de Red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4"/>
          <p:cNvSpPr/>
          <p:nvPr/>
        </p:nvSpPr>
        <p:spPr>
          <a:xfrm>
            <a:off x="4745736" y="2359152"/>
            <a:ext cx="192024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ACL estándar y extendida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NAT/PAT, firewall stateful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Zone-Based Firewall (ZBF)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DMZ, hardening de dispositivos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4"/>
          <p:cNvSpPr/>
          <p:nvPr/>
        </p:nvSpPr>
        <p:spPr>
          <a:xfrm>
            <a:off x="4654296" y="4343400"/>
            <a:ext cx="2103120" cy="548640"/>
          </a:xfrm>
          <a:prstGeom prst="rect">
            <a:avLst/>
          </a:prstGeom>
          <a:solidFill>
            <a:srgbClr val="F72585">
              <a:alpha val="18039"/>
            </a:srgbClr>
          </a:solidFill>
          <a:ln cap="flat" cmpd="sng" w="12700">
            <a:solidFill>
              <a:srgbClr val="F725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4"/>
          <p:cNvSpPr/>
          <p:nvPr/>
        </p:nvSpPr>
        <p:spPr>
          <a:xfrm>
            <a:off x="4709160" y="434340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CCNA: Security | MTCNA: Firewall | JNCIA: Security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4"/>
          <p:cNvSpPr/>
          <p:nvPr/>
        </p:nvSpPr>
        <p:spPr>
          <a:xfrm>
            <a:off x="6867144" y="1005840"/>
            <a:ext cx="2103120" cy="3931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B70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4"/>
          <p:cNvSpPr/>
          <p:nvPr/>
        </p:nvSpPr>
        <p:spPr>
          <a:xfrm>
            <a:off x="6867144" y="1005840"/>
            <a:ext cx="2103120" cy="804672"/>
          </a:xfrm>
          <a:prstGeom prst="rect">
            <a:avLst/>
          </a:prstGeom>
          <a:solidFill>
            <a:srgbClr val="FFB703"/>
          </a:solidFill>
          <a:ln cap="flat" cmpd="sng" w="12700">
            <a:solidFill>
              <a:srgbClr val="FFB70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4"/>
          <p:cNvSpPr/>
          <p:nvPr/>
        </p:nvSpPr>
        <p:spPr>
          <a:xfrm>
            <a:off x="6867144" y="1024128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4"/>
          <p:cNvSpPr/>
          <p:nvPr/>
        </p:nvSpPr>
        <p:spPr>
          <a:xfrm>
            <a:off x="6867144" y="1417320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Semanas 13–16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4"/>
          <p:cNvSpPr/>
          <p:nvPr/>
        </p:nvSpPr>
        <p:spPr>
          <a:xfrm>
            <a:off x="6958584" y="1874520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Diagnóstico y Documentación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4"/>
          <p:cNvSpPr/>
          <p:nvPr/>
        </p:nvSpPr>
        <p:spPr>
          <a:xfrm>
            <a:off x="6958584" y="2359152"/>
            <a:ext cx="192024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Troubleshooting por capas OSI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Wireshark, nmap, tcpdump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Diagramas de topología (Draw.io)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Informe técnico profesional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4"/>
          <p:cNvSpPr/>
          <p:nvPr/>
        </p:nvSpPr>
        <p:spPr>
          <a:xfrm>
            <a:off x="6867144" y="4343400"/>
            <a:ext cx="2103120" cy="548640"/>
          </a:xfrm>
          <a:prstGeom prst="rect">
            <a:avLst/>
          </a:prstGeom>
          <a:solidFill>
            <a:srgbClr val="FFB703">
              <a:alpha val="18039"/>
            </a:srgbClr>
          </a:solidFill>
          <a:ln cap="flat" cmpd="sng" w="12700">
            <a:solidFill>
              <a:srgbClr val="FFB70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4"/>
          <p:cNvSpPr/>
          <p:nvPr/>
        </p:nvSpPr>
        <p:spPr>
          <a:xfrm>
            <a:off x="6922008" y="434340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CCNA: Troubleshooting | Network+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2" name="Google Shape;502;p14"/>
          <p:cNvCxnSpPr/>
          <p:nvPr/>
        </p:nvCxnSpPr>
        <p:spPr>
          <a:xfrm>
            <a:off x="2395728" y="2377440"/>
            <a:ext cx="45720" cy="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3" name="Google Shape;503;p14"/>
          <p:cNvCxnSpPr/>
          <p:nvPr/>
        </p:nvCxnSpPr>
        <p:spPr>
          <a:xfrm>
            <a:off x="4608576" y="2377440"/>
            <a:ext cx="45720" cy="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4" name="Google Shape;504;p14"/>
          <p:cNvCxnSpPr/>
          <p:nvPr/>
        </p:nvCxnSpPr>
        <p:spPr>
          <a:xfrm>
            <a:off x="6821424" y="2377440"/>
            <a:ext cx="45720" cy="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5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5"/>
          <p:cNvSpPr/>
          <p:nvPr/>
        </p:nvSpPr>
        <p:spPr>
          <a:xfrm>
            <a:off x="274320" y="365760"/>
            <a:ext cx="54864" cy="54864"/>
          </a:xfrm>
          <a:prstGeom prst="ellipse">
            <a:avLst/>
          </a:prstGeom>
          <a:solidFill>
            <a:srgbClr val="48CAE4">
              <a:alpha val="25098"/>
            </a:srgbClr>
          </a:solidFill>
          <a:ln cap="flat" cmpd="sng" w="12700">
            <a:solidFill>
              <a:srgbClr val="48CAE4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5"/>
          <p:cNvSpPr/>
          <p:nvPr/>
        </p:nvSpPr>
        <p:spPr>
          <a:xfrm>
            <a:off x="274320" y="1097280"/>
            <a:ext cx="54864" cy="54864"/>
          </a:xfrm>
          <a:prstGeom prst="ellipse">
            <a:avLst/>
          </a:prstGeom>
          <a:solidFill>
            <a:srgbClr val="48CAE4">
              <a:alpha val="25098"/>
            </a:srgbClr>
          </a:solidFill>
          <a:ln cap="flat" cmpd="sng" w="12700">
            <a:solidFill>
              <a:srgbClr val="48CAE4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5"/>
          <p:cNvSpPr/>
          <p:nvPr/>
        </p:nvSpPr>
        <p:spPr>
          <a:xfrm>
            <a:off x="274320" y="1828800"/>
            <a:ext cx="54864" cy="54864"/>
          </a:xfrm>
          <a:prstGeom prst="ellipse">
            <a:avLst/>
          </a:prstGeom>
          <a:solidFill>
            <a:srgbClr val="48CAE4">
              <a:alpha val="25098"/>
            </a:srgbClr>
          </a:solidFill>
          <a:ln cap="flat" cmpd="sng" w="12700">
            <a:solidFill>
              <a:srgbClr val="48CAE4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5"/>
          <p:cNvSpPr/>
          <p:nvPr/>
        </p:nvSpPr>
        <p:spPr>
          <a:xfrm>
            <a:off x="274320" y="2560320"/>
            <a:ext cx="54864" cy="54864"/>
          </a:xfrm>
          <a:prstGeom prst="ellipse">
            <a:avLst/>
          </a:prstGeom>
          <a:solidFill>
            <a:srgbClr val="48CAE4">
              <a:alpha val="25098"/>
            </a:srgbClr>
          </a:solidFill>
          <a:ln cap="flat" cmpd="sng" w="12700">
            <a:solidFill>
              <a:srgbClr val="48CAE4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5"/>
          <p:cNvSpPr/>
          <p:nvPr/>
        </p:nvSpPr>
        <p:spPr>
          <a:xfrm>
            <a:off x="274320" y="3291840"/>
            <a:ext cx="54864" cy="54864"/>
          </a:xfrm>
          <a:prstGeom prst="ellipse">
            <a:avLst/>
          </a:prstGeom>
          <a:solidFill>
            <a:srgbClr val="48CAE4">
              <a:alpha val="25098"/>
            </a:srgbClr>
          </a:solidFill>
          <a:ln cap="flat" cmpd="sng" w="12700">
            <a:solidFill>
              <a:srgbClr val="48CAE4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5"/>
          <p:cNvSpPr/>
          <p:nvPr/>
        </p:nvSpPr>
        <p:spPr>
          <a:xfrm>
            <a:off x="621792" y="365760"/>
            <a:ext cx="54864" cy="54864"/>
          </a:xfrm>
          <a:prstGeom prst="ellipse">
            <a:avLst/>
          </a:prstGeom>
          <a:solidFill>
            <a:srgbClr val="48CAE4">
              <a:alpha val="25098"/>
            </a:srgbClr>
          </a:solidFill>
          <a:ln cap="flat" cmpd="sng" w="12700">
            <a:solidFill>
              <a:srgbClr val="48CAE4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5"/>
          <p:cNvSpPr/>
          <p:nvPr/>
        </p:nvSpPr>
        <p:spPr>
          <a:xfrm>
            <a:off x="621792" y="1097280"/>
            <a:ext cx="54864" cy="54864"/>
          </a:xfrm>
          <a:prstGeom prst="ellipse">
            <a:avLst/>
          </a:prstGeom>
          <a:solidFill>
            <a:srgbClr val="48CAE4">
              <a:alpha val="25098"/>
            </a:srgbClr>
          </a:solidFill>
          <a:ln cap="flat" cmpd="sng" w="12700">
            <a:solidFill>
              <a:srgbClr val="48CAE4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5"/>
          <p:cNvSpPr/>
          <p:nvPr/>
        </p:nvSpPr>
        <p:spPr>
          <a:xfrm>
            <a:off x="621792" y="1828800"/>
            <a:ext cx="54864" cy="54864"/>
          </a:xfrm>
          <a:prstGeom prst="ellipse">
            <a:avLst/>
          </a:prstGeom>
          <a:solidFill>
            <a:srgbClr val="48CAE4">
              <a:alpha val="25098"/>
            </a:srgbClr>
          </a:solidFill>
          <a:ln cap="flat" cmpd="sng" w="12700">
            <a:solidFill>
              <a:srgbClr val="48CAE4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5"/>
          <p:cNvSpPr/>
          <p:nvPr/>
        </p:nvSpPr>
        <p:spPr>
          <a:xfrm>
            <a:off x="621792" y="2560320"/>
            <a:ext cx="54864" cy="54864"/>
          </a:xfrm>
          <a:prstGeom prst="ellipse">
            <a:avLst/>
          </a:prstGeom>
          <a:solidFill>
            <a:srgbClr val="48CAE4">
              <a:alpha val="25098"/>
            </a:srgbClr>
          </a:solidFill>
          <a:ln cap="flat" cmpd="sng" w="12700">
            <a:solidFill>
              <a:srgbClr val="48CAE4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5"/>
          <p:cNvSpPr/>
          <p:nvPr/>
        </p:nvSpPr>
        <p:spPr>
          <a:xfrm>
            <a:off x="621792" y="3291840"/>
            <a:ext cx="54864" cy="54864"/>
          </a:xfrm>
          <a:prstGeom prst="ellipse">
            <a:avLst/>
          </a:prstGeom>
          <a:solidFill>
            <a:srgbClr val="48CAE4">
              <a:alpha val="25098"/>
            </a:srgbClr>
          </a:solidFill>
          <a:ln cap="flat" cmpd="sng" w="12700">
            <a:solidFill>
              <a:srgbClr val="48CAE4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5"/>
          <p:cNvSpPr/>
          <p:nvPr/>
        </p:nvSpPr>
        <p:spPr>
          <a:xfrm>
            <a:off x="969264" y="365760"/>
            <a:ext cx="54864" cy="54864"/>
          </a:xfrm>
          <a:prstGeom prst="ellipse">
            <a:avLst/>
          </a:prstGeom>
          <a:solidFill>
            <a:srgbClr val="48CAE4">
              <a:alpha val="25098"/>
            </a:srgbClr>
          </a:solidFill>
          <a:ln cap="flat" cmpd="sng" w="12700">
            <a:solidFill>
              <a:srgbClr val="48CAE4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5"/>
          <p:cNvSpPr/>
          <p:nvPr/>
        </p:nvSpPr>
        <p:spPr>
          <a:xfrm>
            <a:off x="969264" y="1097280"/>
            <a:ext cx="54864" cy="54864"/>
          </a:xfrm>
          <a:prstGeom prst="ellipse">
            <a:avLst/>
          </a:prstGeom>
          <a:solidFill>
            <a:srgbClr val="48CAE4">
              <a:alpha val="25098"/>
            </a:srgbClr>
          </a:solidFill>
          <a:ln cap="flat" cmpd="sng" w="12700">
            <a:solidFill>
              <a:srgbClr val="48CAE4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5"/>
          <p:cNvSpPr/>
          <p:nvPr/>
        </p:nvSpPr>
        <p:spPr>
          <a:xfrm>
            <a:off x="969264" y="1828800"/>
            <a:ext cx="54864" cy="54864"/>
          </a:xfrm>
          <a:prstGeom prst="ellipse">
            <a:avLst/>
          </a:prstGeom>
          <a:solidFill>
            <a:srgbClr val="48CAE4">
              <a:alpha val="25098"/>
            </a:srgbClr>
          </a:solidFill>
          <a:ln cap="flat" cmpd="sng" w="12700">
            <a:solidFill>
              <a:srgbClr val="48CAE4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5"/>
          <p:cNvSpPr/>
          <p:nvPr/>
        </p:nvSpPr>
        <p:spPr>
          <a:xfrm>
            <a:off x="969264" y="2560320"/>
            <a:ext cx="54864" cy="54864"/>
          </a:xfrm>
          <a:prstGeom prst="ellipse">
            <a:avLst/>
          </a:prstGeom>
          <a:solidFill>
            <a:srgbClr val="48CAE4">
              <a:alpha val="25098"/>
            </a:srgbClr>
          </a:solidFill>
          <a:ln cap="flat" cmpd="sng" w="12700">
            <a:solidFill>
              <a:srgbClr val="48CAE4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5"/>
          <p:cNvSpPr/>
          <p:nvPr/>
        </p:nvSpPr>
        <p:spPr>
          <a:xfrm>
            <a:off x="969264" y="3291840"/>
            <a:ext cx="54864" cy="54864"/>
          </a:xfrm>
          <a:prstGeom prst="ellipse">
            <a:avLst/>
          </a:prstGeom>
          <a:solidFill>
            <a:srgbClr val="48CAE4">
              <a:alpha val="25098"/>
            </a:srgbClr>
          </a:solidFill>
          <a:ln cap="flat" cmpd="sng" w="12700">
            <a:solidFill>
              <a:srgbClr val="48CAE4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5"/>
          <p:cNvSpPr/>
          <p:nvPr/>
        </p:nvSpPr>
        <p:spPr>
          <a:xfrm>
            <a:off x="1316736" y="365760"/>
            <a:ext cx="54864" cy="54864"/>
          </a:xfrm>
          <a:prstGeom prst="ellipse">
            <a:avLst/>
          </a:prstGeom>
          <a:solidFill>
            <a:srgbClr val="48CAE4">
              <a:alpha val="25098"/>
            </a:srgbClr>
          </a:solidFill>
          <a:ln cap="flat" cmpd="sng" w="12700">
            <a:solidFill>
              <a:srgbClr val="48CAE4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5"/>
          <p:cNvSpPr/>
          <p:nvPr/>
        </p:nvSpPr>
        <p:spPr>
          <a:xfrm>
            <a:off x="1316736" y="1097280"/>
            <a:ext cx="54864" cy="54864"/>
          </a:xfrm>
          <a:prstGeom prst="ellipse">
            <a:avLst/>
          </a:prstGeom>
          <a:solidFill>
            <a:srgbClr val="48CAE4">
              <a:alpha val="25098"/>
            </a:srgbClr>
          </a:solidFill>
          <a:ln cap="flat" cmpd="sng" w="12700">
            <a:solidFill>
              <a:srgbClr val="48CAE4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5"/>
          <p:cNvSpPr/>
          <p:nvPr/>
        </p:nvSpPr>
        <p:spPr>
          <a:xfrm>
            <a:off x="1316736" y="1828800"/>
            <a:ext cx="54864" cy="54864"/>
          </a:xfrm>
          <a:prstGeom prst="ellipse">
            <a:avLst/>
          </a:prstGeom>
          <a:solidFill>
            <a:srgbClr val="48CAE4">
              <a:alpha val="25098"/>
            </a:srgbClr>
          </a:solidFill>
          <a:ln cap="flat" cmpd="sng" w="12700">
            <a:solidFill>
              <a:srgbClr val="48CAE4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5"/>
          <p:cNvSpPr/>
          <p:nvPr/>
        </p:nvSpPr>
        <p:spPr>
          <a:xfrm>
            <a:off x="1316736" y="2560320"/>
            <a:ext cx="54864" cy="54864"/>
          </a:xfrm>
          <a:prstGeom prst="ellipse">
            <a:avLst/>
          </a:prstGeom>
          <a:solidFill>
            <a:srgbClr val="48CAE4">
              <a:alpha val="25098"/>
            </a:srgbClr>
          </a:solidFill>
          <a:ln cap="flat" cmpd="sng" w="12700">
            <a:solidFill>
              <a:srgbClr val="48CAE4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5"/>
          <p:cNvSpPr/>
          <p:nvPr/>
        </p:nvSpPr>
        <p:spPr>
          <a:xfrm>
            <a:off x="1316736" y="3291840"/>
            <a:ext cx="54864" cy="54864"/>
          </a:xfrm>
          <a:prstGeom prst="ellipse">
            <a:avLst/>
          </a:prstGeom>
          <a:solidFill>
            <a:srgbClr val="48CAE4">
              <a:alpha val="25098"/>
            </a:srgbClr>
          </a:solidFill>
          <a:ln cap="flat" cmpd="sng" w="12700">
            <a:solidFill>
              <a:srgbClr val="48CAE4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5"/>
          <p:cNvSpPr/>
          <p:nvPr/>
        </p:nvSpPr>
        <p:spPr>
          <a:xfrm>
            <a:off x="1664208" y="365760"/>
            <a:ext cx="54864" cy="54864"/>
          </a:xfrm>
          <a:prstGeom prst="ellipse">
            <a:avLst/>
          </a:prstGeom>
          <a:solidFill>
            <a:srgbClr val="48CAE4">
              <a:alpha val="25098"/>
            </a:srgbClr>
          </a:solidFill>
          <a:ln cap="flat" cmpd="sng" w="12700">
            <a:solidFill>
              <a:srgbClr val="48CAE4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5"/>
          <p:cNvSpPr/>
          <p:nvPr/>
        </p:nvSpPr>
        <p:spPr>
          <a:xfrm>
            <a:off x="1664208" y="1097280"/>
            <a:ext cx="54864" cy="54864"/>
          </a:xfrm>
          <a:prstGeom prst="ellipse">
            <a:avLst/>
          </a:prstGeom>
          <a:solidFill>
            <a:srgbClr val="48CAE4">
              <a:alpha val="25098"/>
            </a:srgbClr>
          </a:solidFill>
          <a:ln cap="flat" cmpd="sng" w="12700">
            <a:solidFill>
              <a:srgbClr val="48CAE4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5"/>
          <p:cNvSpPr/>
          <p:nvPr/>
        </p:nvSpPr>
        <p:spPr>
          <a:xfrm>
            <a:off x="1664208" y="1828800"/>
            <a:ext cx="54864" cy="54864"/>
          </a:xfrm>
          <a:prstGeom prst="ellipse">
            <a:avLst/>
          </a:prstGeom>
          <a:solidFill>
            <a:srgbClr val="48CAE4">
              <a:alpha val="25098"/>
            </a:srgbClr>
          </a:solidFill>
          <a:ln cap="flat" cmpd="sng" w="12700">
            <a:solidFill>
              <a:srgbClr val="48CAE4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15"/>
          <p:cNvSpPr/>
          <p:nvPr/>
        </p:nvSpPr>
        <p:spPr>
          <a:xfrm>
            <a:off x="1664208" y="2560320"/>
            <a:ext cx="54864" cy="54864"/>
          </a:xfrm>
          <a:prstGeom prst="ellipse">
            <a:avLst/>
          </a:prstGeom>
          <a:solidFill>
            <a:srgbClr val="48CAE4">
              <a:alpha val="25098"/>
            </a:srgbClr>
          </a:solidFill>
          <a:ln cap="flat" cmpd="sng" w="12700">
            <a:solidFill>
              <a:srgbClr val="48CAE4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5"/>
          <p:cNvSpPr/>
          <p:nvPr/>
        </p:nvSpPr>
        <p:spPr>
          <a:xfrm>
            <a:off x="1664208" y="3291840"/>
            <a:ext cx="54864" cy="54864"/>
          </a:xfrm>
          <a:prstGeom prst="ellipse">
            <a:avLst/>
          </a:prstGeom>
          <a:solidFill>
            <a:srgbClr val="48CAE4">
              <a:alpha val="25098"/>
            </a:srgbClr>
          </a:solidFill>
          <a:ln cap="flat" cmpd="sng" w="12700">
            <a:solidFill>
              <a:srgbClr val="48CAE4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5"/>
          <p:cNvSpPr/>
          <p:nvPr/>
        </p:nvSpPr>
        <p:spPr>
          <a:xfrm>
            <a:off x="2011680" y="365760"/>
            <a:ext cx="54864" cy="54864"/>
          </a:xfrm>
          <a:prstGeom prst="ellipse">
            <a:avLst/>
          </a:prstGeom>
          <a:solidFill>
            <a:srgbClr val="48CAE4">
              <a:alpha val="25098"/>
            </a:srgbClr>
          </a:solidFill>
          <a:ln cap="flat" cmpd="sng" w="12700">
            <a:solidFill>
              <a:srgbClr val="48CAE4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5"/>
          <p:cNvSpPr/>
          <p:nvPr/>
        </p:nvSpPr>
        <p:spPr>
          <a:xfrm>
            <a:off x="2011680" y="1097280"/>
            <a:ext cx="54864" cy="54864"/>
          </a:xfrm>
          <a:prstGeom prst="ellipse">
            <a:avLst/>
          </a:prstGeom>
          <a:solidFill>
            <a:srgbClr val="48CAE4">
              <a:alpha val="25098"/>
            </a:srgbClr>
          </a:solidFill>
          <a:ln cap="flat" cmpd="sng" w="12700">
            <a:solidFill>
              <a:srgbClr val="48CAE4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15"/>
          <p:cNvSpPr/>
          <p:nvPr/>
        </p:nvSpPr>
        <p:spPr>
          <a:xfrm>
            <a:off x="2011680" y="1828800"/>
            <a:ext cx="54864" cy="54864"/>
          </a:xfrm>
          <a:prstGeom prst="ellipse">
            <a:avLst/>
          </a:prstGeom>
          <a:solidFill>
            <a:srgbClr val="48CAE4">
              <a:alpha val="25098"/>
            </a:srgbClr>
          </a:solidFill>
          <a:ln cap="flat" cmpd="sng" w="12700">
            <a:solidFill>
              <a:srgbClr val="48CAE4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5"/>
          <p:cNvSpPr/>
          <p:nvPr/>
        </p:nvSpPr>
        <p:spPr>
          <a:xfrm>
            <a:off x="2011680" y="2560320"/>
            <a:ext cx="54864" cy="54864"/>
          </a:xfrm>
          <a:prstGeom prst="ellipse">
            <a:avLst/>
          </a:prstGeom>
          <a:solidFill>
            <a:srgbClr val="48CAE4">
              <a:alpha val="25098"/>
            </a:srgbClr>
          </a:solidFill>
          <a:ln cap="flat" cmpd="sng" w="12700">
            <a:solidFill>
              <a:srgbClr val="48CAE4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15"/>
          <p:cNvSpPr/>
          <p:nvPr/>
        </p:nvSpPr>
        <p:spPr>
          <a:xfrm>
            <a:off x="2011680" y="3291840"/>
            <a:ext cx="54864" cy="54864"/>
          </a:xfrm>
          <a:prstGeom prst="ellipse">
            <a:avLst/>
          </a:prstGeom>
          <a:solidFill>
            <a:srgbClr val="48CAE4">
              <a:alpha val="25098"/>
            </a:srgbClr>
          </a:solidFill>
          <a:ln cap="flat" cmpd="sng" w="12700">
            <a:solidFill>
              <a:srgbClr val="48CAE4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5"/>
          <p:cNvSpPr/>
          <p:nvPr/>
        </p:nvSpPr>
        <p:spPr>
          <a:xfrm>
            <a:off x="2359152" y="365760"/>
            <a:ext cx="54864" cy="54864"/>
          </a:xfrm>
          <a:prstGeom prst="ellipse">
            <a:avLst/>
          </a:prstGeom>
          <a:solidFill>
            <a:srgbClr val="48CAE4">
              <a:alpha val="25098"/>
            </a:srgbClr>
          </a:solidFill>
          <a:ln cap="flat" cmpd="sng" w="12700">
            <a:solidFill>
              <a:srgbClr val="48CAE4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5"/>
          <p:cNvSpPr/>
          <p:nvPr/>
        </p:nvSpPr>
        <p:spPr>
          <a:xfrm>
            <a:off x="2359152" y="1097280"/>
            <a:ext cx="54864" cy="54864"/>
          </a:xfrm>
          <a:prstGeom prst="ellipse">
            <a:avLst/>
          </a:prstGeom>
          <a:solidFill>
            <a:srgbClr val="48CAE4">
              <a:alpha val="25098"/>
            </a:srgbClr>
          </a:solidFill>
          <a:ln cap="flat" cmpd="sng" w="12700">
            <a:solidFill>
              <a:srgbClr val="48CAE4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5"/>
          <p:cNvSpPr/>
          <p:nvPr/>
        </p:nvSpPr>
        <p:spPr>
          <a:xfrm>
            <a:off x="2359152" y="1828800"/>
            <a:ext cx="54864" cy="54864"/>
          </a:xfrm>
          <a:prstGeom prst="ellipse">
            <a:avLst/>
          </a:prstGeom>
          <a:solidFill>
            <a:srgbClr val="48CAE4">
              <a:alpha val="25098"/>
            </a:srgbClr>
          </a:solidFill>
          <a:ln cap="flat" cmpd="sng" w="12700">
            <a:solidFill>
              <a:srgbClr val="48CAE4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5"/>
          <p:cNvSpPr/>
          <p:nvPr/>
        </p:nvSpPr>
        <p:spPr>
          <a:xfrm>
            <a:off x="2359152" y="2560320"/>
            <a:ext cx="54864" cy="54864"/>
          </a:xfrm>
          <a:prstGeom prst="ellipse">
            <a:avLst/>
          </a:prstGeom>
          <a:solidFill>
            <a:srgbClr val="48CAE4">
              <a:alpha val="25098"/>
            </a:srgbClr>
          </a:solidFill>
          <a:ln cap="flat" cmpd="sng" w="12700">
            <a:solidFill>
              <a:srgbClr val="48CAE4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5"/>
          <p:cNvSpPr/>
          <p:nvPr/>
        </p:nvSpPr>
        <p:spPr>
          <a:xfrm>
            <a:off x="2359152" y="3291840"/>
            <a:ext cx="54864" cy="54864"/>
          </a:xfrm>
          <a:prstGeom prst="ellipse">
            <a:avLst/>
          </a:prstGeom>
          <a:solidFill>
            <a:srgbClr val="48CAE4">
              <a:alpha val="25098"/>
            </a:srgbClr>
          </a:solidFill>
          <a:ln cap="flat" cmpd="sng" w="12700">
            <a:solidFill>
              <a:srgbClr val="48CAE4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5"/>
          <p:cNvSpPr/>
          <p:nvPr/>
        </p:nvSpPr>
        <p:spPr>
          <a:xfrm>
            <a:off x="2706624" y="365760"/>
            <a:ext cx="54864" cy="54864"/>
          </a:xfrm>
          <a:prstGeom prst="ellipse">
            <a:avLst/>
          </a:prstGeom>
          <a:solidFill>
            <a:srgbClr val="48CAE4">
              <a:alpha val="25098"/>
            </a:srgbClr>
          </a:solidFill>
          <a:ln cap="flat" cmpd="sng" w="12700">
            <a:solidFill>
              <a:srgbClr val="48CAE4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5"/>
          <p:cNvSpPr/>
          <p:nvPr/>
        </p:nvSpPr>
        <p:spPr>
          <a:xfrm>
            <a:off x="2706624" y="1097280"/>
            <a:ext cx="54864" cy="54864"/>
          </a:xfrm>
          <a:prstGeom prst="ellipse">
            <a:avLst/>
          </a:prstGeom>
          <a:solidFill>
            <a:srgbClr val="48CAE4">
              <a:alpha val="25098"/>
            </a:srgbClr>
          </a:solidFill>
          <a:ln cap="flat" cmpd="sng" w="12700">
            <a:solidFill>
              <a:srgbClr val="48CAE4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5"/>
          <p:cNvSpPr/>
          <p:nvPr/>
        </p:nvSpPr>
        <p:spPr>
          <a:xfrm>
            <a:off x="2706624" y="1828800"/>
            <a:ext cx="54864" cy="54864"/>
          </a:xfrm>
          <a:prstGeom prst="ellipse">
            <a:avLst/>
          </a:prstGeom>
          <a:solidFill>
            <a:srgbClr val="48CAE4">
              <a:alpha val="25098"/>
            </a:srgbClr>
          </a:solidFill>
          <a:ln cap="flat" cmpd="sng" w="12700">
            <a:solidFill>
              <a:srgbClr val="48CAE4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5"/>
          <p:cNvSpPr/>
          <p:nvPr/>
        </p:nvSpPr>
        <p:spPr>
          <a:xfrm>
            <a:off x="2706624" y="2560320"/>
            <a:ext cx="54864" cy="54864"/>
          </a:xfrm>
          <a:prstGeom prst="ellipse">
            <a:avLst/>
          </a:prstGeom>
          <a:solidFill>
            <a:srgbClr val="48CAE4">
              <a:alpha val="25098"/>
            </a:srgbClr>
          </a:solidFill>
          <a:ln cap="flat" cmpd="sng" w="12700">
            <a:solidFill>
              <a:srgbClr val="48CAE4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5"/>
          <p:cNvSpPr/>
          <p:nvPr/>
        </p:nvSpPr>
        <p:spPr>
          <a:xfrm>
            <a:off x="2706624" y="3291840"/>
            <a:ext cx="54864" cy="54864"/>
          </a:xfrm>
          <a:prstGeom prst="ellipse">
            <a:avLst/>
          </a:prstGeom>
          <a:solidFill>
            <a:srgbClr val="48CAE4">
              <a:alpha val="25098"/>
            </a:srgbClr>
          </a:solidFill>
          <a:ln cap="flat" cmpd="sng" w="12700">
            <a:solidFill>
              <a:srgbClr val="48CAE4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5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Puntos Clave de Hoy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5"/>
          <p:cNvSpPr/>
          <p:nvPr/>
        </p:nvSpPr>
        <p:spPr>
          <a:xfrm>
            <a:off x="274320" y="1161288"/>
            <a:ext cx="320040" cy="32004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5"/>
          <p:cNvSpPr/>
          <p:nvPr/>
        </p:nvSpPr>
        <p:spPr>
          <a:xfrm>
            <a:off x="274320" y="1161288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5"/>
          <p:cNvSpPr/>
          <p:nvPr/>
        </p:nvSpPr>
        <p:spPr>
          <a:xfrm>
            <a:off x="731520" y="1051560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red jerárquica (acceso → distribución → núcleo) es el estándar en entornos empresariales.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5"/>
          <p:cNvSpPr/>
          <p:nvPr/>
        </p:nvSpPr>
        <p:spPr>
          <a:xfrm>
            <a:off x="274320" y="1819656"/>
            <a:ext cx="320040" cy="32004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5"/>
          <p:cNvSpPr/>
          <p:nvPr/>
        </p:nvSpPr>
        <p:spPr>
          <a:xfrm>
            <a:off x="274320" y="1819656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5"/>
          <p:cNvSpPr/>
          <p:nvPr/>
        </p:nvSpPr>
        <p:spPr>
          <a:xfrm>
            <a:off x="731520" y="1709928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modelo OSI en 7 capas es la base del troubleshooting sistemático — diagnostica siempre por capas.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5"/>
          <p:cNvSpPr/>
          <p:nvPr/>
        </p:nvSpPr>
        <p:spPr>
          <a:xfrm>
            <a:off x="274320" y="2478024"/>
            <a:ext cx="320040" cy="32004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5"/>
          <p:cNvSpPr/>
          <p:nvPr/>
        </p:nvSpPr>
        <p:spPr>
          <a:xfrm>
            <a:off x="274320" y="247802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5"/>
          <p:cNvSpPr/>
          <p:nvPr/>
        </p:nvSpPr>
        <p:spPr>
          <a:xfrm>
            <a:off x="731520" y="2368296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VLAN (802.1Q) segmenta el tráfico lógicamente; el routing inter-VLAN lo interconecta de forma controlada.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5"/>
          <p:cNvSpPr/>
          <p:nvPr/>
        </p:nvSpPr>
        <p:spPr>
          <a:xfrm>
            <a:off x="274320" y="3136392"/>
            <a:ext cx="320040" cy="32004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15"/>
          <p:cNvSpPr/>
          <p:nvPr/>
        </p:nvSpPr>
        <p:spPr>
          <a:xfrm>
            <a:off x="274320" y="3136392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5"/>
          <p:cNvSpPr/>
          <p:nvPr/>
        </p:nvSpPr>
        <p:spPr>
          <a:xfrm>
            <a:off x="731520" y="3026664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Las ACL (estándar/extendida) + NAT + Firewall stateful forman el pilar de la seguridad perimetral.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5"/>
          <p:cNvSpPr/>
          <p:nvPr/>
        </p:nvSpPr>
        <p:spPr>
          <a:xfrm>
            <a:off x="274320" y="3794760"/>
            <a:ext cx="320040" cy="32004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5"/>
          <p:cNvSpPr/>
          <p:nvPr/>
        </p:nvSpPr>
        <p:spPr>
          <a:xfrm>
            <a:off x="274320" y="37947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5"/>
          <p:cNvSpPr/>
          <p:nvPr/>
        </p:nvSpPr>
        <p:spPr>
          <a:xfrm>
            <a:off x="731520" y="3685032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CCNA, MTCNA (MikroTik) y JNCIA-Junos validan estas habilidades con reconocimiento global.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5"/>
          <p:cNvSpPr/>
          <p:nvPr/>
        </p:nvSpPr>
        <p:spPr>
          <a:xfrm>
            <a:off x="274320" y="4343400"/>
            <a:ext cx="8595360" cy="685800"/>
          </a:xfrm>
          <a:prstGeom prst="rect">
            <a:avLst/>
          </a:prstGeom>
          <a:solidFill>
            <a:srgbClr val="243B55"/>
          </a:solidFill>
          <a:ln cap="flat" cmpd="sng" w="12700">
            <a:solidFill>
              <a:srgbClr val="FFB70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5"/>
          <p:cNvSpPr/>
          <p:nvPr/>
        </p:nvSpPr>
        <p:spPr>
          <a:xfrm>
            <a:off x="274320" y="4343400"/>
            <a:ext cx="64008" cy="685800"/>
          </a:xfrm>
          <a:prstGeom prst="rect">
            <a:avLst/>
          </a:prstGeom>
          <a:solidFill>
            <a:srgbClr val="FFB703"/>
          </a:solidFill>
          <a:ln cap="flat" cmpd="sng" w="12700">
            <a:solidFill>
              <a:srgbClr val="FFB70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5"/>
          <p:cNvSpPr/>
          <p:nvPr/>
        </p:nvSpPr>
        <p:spPr>
          <a:xfrm>
            <a:off x="457200" y="43434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70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B703"/>
                </a:solidFill>
                <a:latin typeface="Calibri"/>
                <a:ea typeface="Calibri"/>
                <a:cs typeface="Calibri"/>
                <a:sym typeface="Calibri"/>
              </a:rPr>
              <a:t>Próxima Clase → U1: VLAN profundo | Port-security | 802.1Q Trunk | Lab: red segmentada en GNS3/Packet Tracer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